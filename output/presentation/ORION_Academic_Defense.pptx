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9ddab4023943e1" /><Relationship Type="http://schemas.openxmlformats.org/officeDocument/2006/relationships/extended-properties" Target="/docProps/app.xml" Id="Rd80ab8e6c20b4f0e" /><Relationship Type="http://schemas.openxmlformats.org/officeDocument/2006/relationships/officeDocument" Target="/ppt/presentation.xml" Id="Rccfbada546f247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1089a6b6af459f"/>
  </p:sldMasterIdLst>
  <p:notesMasterIdLst>
    <p:notesMasterId xmlns:r="http://schemas.openxmlformats.org/officeDocument/2006/relationships" r:id="R85655b52e4a3477d"/>
  </p:notesMasterIdLst>
  <p:sldIdLst>
    <p:sldId xmlns:r="http://schemas.openxmlformats.org/officeDocument/2006/relationships" id="256" r:id="Rf322d7ba34a94b97"/>
    <p:sldId xmlns:r="http://schemas.openxmlformats.org/officeDocument/2006/relationships" id="257" r:id="R5e308800d2d24d8f"/>
    <p:sldId xmlns:r="http://schemas.openxmlformats.org/officeDocument/2006/relationships" id="258" r:id="R94366f7dadfa4a38"/>
    <p:sldId xmlns:r="http://schemas.openxmlformats.org/officeDocument/2006/relationships" id="259" r:id="R8999b2a813f84578"/>
    <p:sldId xmlns:r="http://schemas.openxmlformats.org/officeDocument/2006/relationships" id="260" r:id="R3ba5114e42d94dc1"/>
    <p:sldId xmlns:r="http://schemas.openxmlformats.org/officeDocument/2006/relationships" id="261" r:id="R6e5bf361fcae44ee"/>
    <p:sldId xmlns:r="http://schemas.openxmlformats.org/officeDocument/2006/relationships" id="262" r:id="R589f252146fc4fc5"/>
    <p:sldId xmlns:r="http://schemas.openxmlformats.org/officeDocument/2006/relationships" id="263" r:id="R9666cc1d94fa4bb7"/>
    <p:sldId xmlns:r="http://schemas.openxmlformats.org/officeDocument/2006/relationships" id="264" r:id="Re3ba6fe32fcd4c3b"/>
    <p:sldId xmlns:r="http://schemas.openxmlformats.org/officeDocument/2006/relationships" id="265" r:id="R891d682a14874ded"/>
    <p:sldId xmlns:r="http://schemas.openxmlformats.org/officeDocument/2006/relationships" id="266" r:id="Re06284ff8a184b5e"/>
    <p:sldId xmlns:r="http://schemas.openxmlformats.org/officeDocument/2006/relationships" id="267" r:id="Ra30a8c2b5391428e"/>
    <p:sldId xmlns:r="http://schemas.openxmlformats.org/officeDocument/2006/relationships" id="268" r:id="Rff50b3f8136e48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f5c4a4a1fa4cdb" /><Relationship Type="http://schemas.openxmlformats.org/officeDocument/2006/relationships/slideMaster" Target="/ppt/slideMasters/slideMaster1.xml" Id="Ree1089a6b6af459f" /><Relationship Type="http://schemas.openxmlformats.org/officeDocument/2006/relationships/notesMaster" Target="/ppt/notesMasters/notesMaster1.xml" Id="R85655b52e4a3477d" /><Relationship Type="http://schemas.openxmlformats.org/officeDocument/2006/relationships/presProps" Target="/ppt/presProps.xml" Id="Rd54354c15fdb4856" /><Relationship Type="http://schemas.openxmlformats.org/officeDocument/2006/relationships/tableStyles" Target="/ppt/tableStyles.xml" Id="R97f819e174a44f76" /><Relationship Type="http://schemas.openxmlformats.org/officeDocument/2006/relationships/slide" Target="/ppt/slides/slide1.xml" Id="Rf322d7ba34a94b97" /><Relationship Type="http://schemas.openxmlformats.org/officeDocument/2006/relationships/slide" Target="/ppt/slides/slide2.xml" Id="R5e308800d2d24d8f" /><Relationship Type="http://schemas.openxmlformats.org/officeDocument/2006/relationships/slide" Target="/ppt/slides/slide3.xml" Id="R94366f7dadfa4a38" /><Relationship Type="http://schemas.openxmlformats.org/officeDocument/2006/relationships/slide" Target="/ppt/slides/slide4.xml" Id="R8999b2a813f84578" /><Relationship Type="http://schemas.openxmlformats.org/officeDocument/2006/relationships/slide" Target="/ppt/slides/slide5.xml" Id="R3ba5114e42d94dc1" /><Relationship Type="http://schemas.openxmlformats.org/officeDocument/2006/relationships/slide" Target="/ppt/slides/slide6.xml" Id="R6e5bf361fcae44ee" /><Relationship Type="http://schemas.openxmlformats.org/officeDocument/2006/relationships/slide" Target="/ppt/slides/slide7.xml" Id="R589f252146fc4fc5" /><Relationship Type="http://schemas.openxmlformats.org/officeDocument/2006/relationships/slide" Target="/ppt/slides/slide8.xml" Id="R9666cc1d94fa4bb7" /><Relationship Type="http://schemas.openxmlformats.org/officeDocument/2006/relationships/slide" Target="/ppt/slides/slide9.xml" Id="Re3ba6fe32fcd4c3b" /><Relationship Type="http://schemas.openxmlformats.org/officeDocument/2006/relationships/slide" Target="/ppt/slides/slide10.xml" Id="R891d682a14874ded" /><Relationship Type="http://schemas.openxmlformats.org/officeDocument/2006/relationships/slide" Target="/ppt/slides/slide11.xml" Id="Re06284ff8a184b5e" /><Relationship Type="http://schemas.openxmlformats.org/officeDocument/2006/relationships/slide" Target="/ppt/slides/slide12.xml" Id="Ra30a8c2b5391428e" /><Relationship Type="http://schemas.openxmlformats.org/officeDocument/2006/relationships/slide" Target="/ppt/slides/slide13.xml" Id="Rff50b3f8136e48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a3ed582ac9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fc45eb8724a93" /><Relationship Type="http://schemas.openxmlformats.org/officeDocument/2006/relationships/notesMaster" Target="/ppt/notesMasters/notesMaster1.xml" Id="Rf0218debbebb49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e8f579db614a84" /><Relationship Type="http://schemas.openxmlformats.org/officeDocument/2006/relationships/notesMaster" Target="/ppt/notesMasters/notesMaster1.xml" Id="Rb2f2139a146e4b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945784860041cd" /><Relationship Type="http://schemas.openxmlformats.org/officeDocument/2006/relationships/notesMaster" Target="/ppt/notesMasters/notesMaster1.xml" Id="R2c1b5634cc0b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75e5927fc64adc" /><Relationship Type="http://schemas.openxmlformats.org/officeDocument/2006/relationships/notesMaster" Target="/ppt/notesMasters/notesMaster1.xml" Id="R0011b67b0da9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398e9e6ba447cc" /><Relationship Type="http://schemas.openxmlformats.org/officeDocument/2006/relationships/notesMaster" Target="/ppt/notesMasters/notesMaster1.xml" Id="R1b99db15ec164e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6210371b5b413a" /><Relationship Type="http://schemas.openxmlformats.org/officeDocument/2006/relationships/notesMaster" Target="/ppt/notesMasters/notesMaster1.xml" Id="Rb1a1ecd890d84d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1c52c4802644af" /><Relationship Type="http://schemas.openxmlformats.org/officeDocument/2006/relationships/notesMaster" Target="/ppt/notesMasters/notesMaster1.xml" Id="R3ed21a679f7d43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eefef3ddc14f49" /><Relationship Type="http://schemas.openxmlformats.org/officeDocument/2006/relationships/notesMaster" Target="/ppt/notesMasters/notesMaster1.xml" Id="Rd834b95cd6864b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90f22c746a4661" /><Relationship Type="http://schemas.openxmlformats.org/officeDocument/2006/relationships/notesMaster" Target="/ppt/notesMasters/notesMaster1.xml" Id="R744c2d49188d47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1a3ecb4b994ef4" /><Relationship Type="http://schemas.openxmlformats.org/officeDocument/2006/relationships/notesMaster" Target="/ppt/notesMasters/notesMaster1.xml" Id="Rc63d4320734346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40fc7c8b454891" /><Relationship Type="http://schemas.openxmlformats.org/officeDocument/2006/relationships/notesMaster" Target="/ppt/notesMasters/notesMaster1.xml" Id="Rba2893602a2d4a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2611f717e54040" /><Relationship Type="http://schemas.openxmlformats.org/officeDocument/2006/relationships/notesMaster" Target="/ppt/notesMasters/notesMaster1.xml" Id="R58be2515cc1245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4e7c602ecb445f" /><Relationship Type="http://schemas.openxmlformats.org/officeDocument/2006/relationships/notesMaster" Target="/ppt/notesMasters/notesMaster1.xml" Id="R2a0da09f774446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Course: Data Science for Managers. Executive pitch five minutes, technical deep dive and demonstration ten minutes. Team members should supply their own names. Source: assignment PDF pages 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pitch: explain the target persona and current manual reconciliation burden. Opportunity is a product hypothesis, not market research. Source: project directive and implemented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source: docs/screenshots/command-center.png from executed local browser test. All displayed customers and values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Assumptions only. 1,000 cases/month, 30 minutes saved, INR600/hour, INR150,000 annual operating cost. Annual gross=1,000*12*30/60*600=3,600,000 INR. Net=3,450,000 INR. ROI=net/cost=23, or 2,300%. No realized ROI or default reduction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strategy is proposed, not externally researched. Team should explain why an internal workbench is the initial target and why authorized real data validation must precede a lending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backend/main.py, backend/database.py, src/model.py and docs/ARCHITECTURE.md. Editable diagram shows the implemented request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src/data.py and backend/finance.py. The ML has six inputs. Personal repayment burden is monthly total debt / income. Business burden is annual debt service / cash flow. Collateral affects LGD rather than the PD feature vector.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docs/MODEL_EVALUATION.json and src/model.py. Candidate selection uses training CV AUC only. GridSearchCV tests Logistic C .1/1/10, Random Forest depths 4/8 and leaf counts 5/15, XGBoost depths 2/4 and learning rates .05/.1. Fixed 100 trees for tree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docs/MODEL_EVALUATION.json. Metrics are executed held-out synthetic-data results. They do not establish bank performance. Selected candidate: Logistic Regression. Version: 20261011T205522521361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docs/MODEL_EVALUATION.json. Confusion matrices, precision and recall are also available in the app. False positives can restrict credit and false negatives miss defaults. Threshold selection requires empirical business costs before lending.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src/model.py, backend/finance.py and tests/test_orion.py. SHAP additivity tests execute for Logistic Regression, Random Forest and XGBoost. Positive values raise the model output. Unsecured facilities do not require collateral.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docs/PRESENTATION_AND_DEMO.md for detailed fields. Source: executed browser workflows. Pre-stage business case if time is short. Remain within 15 minutes plus Q&amp;A.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docs/KNOWN_LIMITATIONS.md, docs/ALGORITHM_REGISTRY.md and assignment page3. Each team member should explain model choice, feature mapping, financial formulas and validation. No live bureau, external LLM, bank certification or realized ROI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d724ffc5549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456aeb0584e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e4a68875e46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450a6abc342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1ec132b2242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60da3d28b41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349269-0143-412D-90D3-EBA82823A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146038-EC2D-4092-B1D2-EC34C5DB9B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E238A6-AC7B-4EEC-A0BA-C2046957E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54E3A9-5FF6-4C76-AC41-BECB389A3D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F6C55C-F6B8-476E-884B-C599C403E3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E7ECB-9DEF-4369-A4A5-F73390BC7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ED2CD1-479A-403F-A0C4-C10CE8714A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D4F14D-F11C-48F8-98A3-E6667E7CE1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128D0E-8A39-4B68-8C35-3308B1A367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5383CC-8885-4A34-BDA1-646235742A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dbb7467b3c4741" /><Relationship Type="http://schemas.openxmlformats.org/officeDocument/2006/relationships/slideLayout" Target="/ppt/slideLayouts/slideLayout1.xml" Id="R72349c67e36f4607" /><Relationship Type="http://schemas.openxmlformats.org/officeDocument/2006/relationships/slideLayout" Target="/ppt/slideLayouts/slideLayout2.xml" Id="R67fe004ac51d4514" /><Relationship Type="http://schemas.openxmlformats.org/officeDocument/2006/relationships/slideLayout" Target="/ppt/slideLayouts/slideLayout3.xml" Id="Rb1f54049951f468e" /><Relationship Type="http://schemas.openxmlformats.org/officeDocument/2006/relationships/slideLayout" Target="/ppt/slideLayouts/slideLayout4.xml" Id="R9553a15b3b7d4fd1" /><Relationship Type="http://schemas.openxmlformats.org/officeDocument/2006/relationships/slideLayout" Target="/ppt/slideLayouts/slideLayout5.xml" Id="R8e24dbc5ede5456f" /><Relationship Type="http://schemas.openxmlformats.org/officeDocument/2006/relationships/slideLayout" Target="/ppt/slideLayouts/slideLayout6.xml" Id="R8db13269b14947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349c67e36f4607"/>
    <p:sldLayoutId xmlns:r="http://schemas.openxmlformats.org/officeDocument/2006/relationships" id="2147483650" r:id="R67fe004ac51d4514"/>
    <p:sldLayoutId xmlns:r="http://schemas.openxmlformats.org/officeDocument/2006/relationships" id="2147483651" r:id="Rb1f54049951f468e"/>
    <p:sldLayoutId xmlns:r="http://schemas.openxmlformats.org/officeDocument/2006/relationships" id="2147483652" r:id="R9553a15b3b7d4fd1"/>
    <p:sldLayoutId xmlns:r="http://schemas.openxmlformats.org/officeDocument/2006/relationships" id="2147483653" r:id="R8e24dbc5ede5456f"/>
    <p:sldLayoutId xmlns:r="http://schemas.openxmlformats.org/officeDocument/2006/relationships" id="2147483654" r:id="R8db13269b14947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a00aa11ec4df3" /><Relationship Type="http://schemas.openxmlformats.org/officeDocument/2006/relationships/notesSlide" Target="/ppt/notesSlides/notesSlide1.xml" Id="R9bf1eef98c8a42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3aaedd5db4b49" /><Relationship Type="http://schemas.openxmlformats.org/officeDocument/2006/relationships/notesSlide" Target="/ppt/notesSlides/notesSlide2.xml" Id="Red84b25f6c5449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2f73a334f45dc" /><Relationship Type="http://schemas.openxmlformats.org/officeDocument/2006/relationships/image" Target="/ppt/media/image.png" Id="R2583d0386f074c5c" /><Relationship Type="http://schemas.openxmlformats.org/officeDocument/2006/relationships/notesSlide" Target="/ppt/notesSlides/notesSlide3.xml" Id="R021db6d254bb46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fed62497b4650" /><Relationship Type="http://schemas.openxmlformats.org/officeDocument/2006/relationships/notesSlide" Target="/ppt/notesSlides/notesSlide4.xml" Id="R86f6e704eeb642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844fc4a5d740af" /><Relationship Type="http://schemas.openxmlformats.org/officeDocument/2006/relationships/notesSlide" Target="/ppt/notesSlides/notesSlide5.xml" Id="R89a3e726037947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bbe3a278646b1" /><Relationship Type="http://schemas.openxmlformats.org/officeDocument/2006/relationships/notesSlide" Target="/ppt/notesSlides/notesSlide6.xml" Id="Rdf34684df375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a3721274f49ad" /><Relationship Type="http://schemas.openxmlformats.org/officeDocument/2006/relationships/notesSlide" Target="/ppt/notesSlides/notesSlide7.xml" Id="R6a5164ea96e340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78fcaaf224b0a" /><Relationship Type="http://schemas.openxmlformats.org/officeDocument/2006/relationships/notesSlide" Target="/ppt/notesSlides/notesSlide8.xml" Id="R9580af5da7a94d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d2056dfef44f45" /><Relationship Type="http://schemas.openxmlformats.org/officeDocument/2006/relationships/notesSlide" Target="/ppt/notesSlides/notesSlide9.xml" Id="Re3d704417c9544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35d1580044073" /><Relationship Type="http://schemas.openxmlformats.org/officeDocument/2006/relationships/chart" Target="/ppt/slides/charts/chart1.xml" Id="Rd393a34a85ca4eca" /><Relationship Type="http://schemas.openxmlformats.org/officeDocument/2006/relationships/notesSlide" Target="/ppt/notesSlides/notesSlide10.xml" Id="R0b7220c4370849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d0e686cf444ba" /><Relationship Type="http://schemas.openxmlformats.org/officeDocument/2006/relationships/notesSlide" Target="/ppt/notesSlides/notesSlide11.xml" Id="Rcb39aaa668e14c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0322a65d2439c" /><Relationship Type="http://schemas.openxmlformats.org/officeDocument/2006/relationships/notesSlide" Target="/ppt/notesSlides/notesSlide12.xml" Id="Rc4be34fa5a3e42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0d6fb5e2e4d1c" /><Relationship Type="http://schemas.openxmlformats.org/officeDocument/2006/relationships/notesSlide" Target="/ppt/notesSlides/notesSlide13.xml" Id="R88b79a803e09444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False positives</c:v>
          </c:tx>
          <c:spPr>
            <a:solidFill xmlns:a="http://schemas.openxmlformats.org/drawingml/2006/main">
              <a:srgbClr val="5B57B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77</c:v>
                </c:pt>
                <c:pt idx="1">
                  <c:v>73</c:v>
                </c:pt>
                <c:pt idx="2">
                  <c:v>85</c:v>
                </c:pt>
              </c:numCache>
            </c:numRef>
          </c:val>
        </c:ser>
        <c:ser>
          <c:idx val="1"/>
          <c:order val="1"/>
          <c:tx>
            <c:v>False negatives</c:v>
          </c:tx>
          <c:spPr>
            <a:solidFill xmlns:a="http://schemas.openxmlformats.org/drawingml/2006/main">
              <a:srgbClr val="D2865B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19</c:v>
                </c:pt>
                <c:pt idx="1">
                  <c:v>14</c:v>
                </c:pt>
                <c:pt idx="2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60F4E-043A-4E81-8FFE-BDDBF794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ORION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874EE-38E4-4C5B-818C-199F07D0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67A87-FC98-4521-B53A-8C76BAD2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9C8CB-D25B-4ABD-AEA9-35152ABA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Enterprise Credit Intelligence</a:t>
            </a:r>
          </a:p>
          <a:p xmlns:a="http://schemas.openxmlformats.org/drawingml/2006/main">
            <a:pPr>
              <a:defRPr sz="41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&amp; Underwriting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99892-D190-436B-9835-B05BB379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Python analytics with traceable human credit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81D28-7258-4C17-9152-2FE77095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12 October 2026</a:t>
            </a:r>
          </a:p>
        </p:txBody>
      </p:sp>
    </p:spTree>
    <p:extLst>
      <p:ext uri="{BB962C8B-B14F-4D97-AF65-F5344CB8AC3E}">
        <p14:creationId xmlns:p14="http://schemas.microsoft.com/office/powerpoint/2010/main" val="268199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65B78-2ED7-4B51-A25C-9177EB42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Credit analyst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C4DE6-ECA5-4DEB-9414-28B80DA5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40D8C-DE33-4B52-9C89-3BEADEE1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11F70-5255-4277-B5CD-E5C37580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Analysts reconcile borrower identity, documents and repayment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A9069-226C-457E-B437-806AA54E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Credit committees need a recorded rationale for every final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E242F-9A5F-4BFA-8914-E1841A34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ORION preserves the model result while the reviewer records a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38C4A-9E98-49FE-8265-75E82CFC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The initial product is a local academic workbench for these users.</a:t>
            </a:r>
          </a:p>
        </p:txBody>
      </p:sp>
    </p:spTree>
    <p:extLst>
      <p:ext uri="{BB962C8B-B14F-4D97-AF65-F5344CB8AC3E}">
        <p14:creationId xmlns:p14="http://schemas.microsoft.com/office/powerpoint/2010/main" val="1008206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238D8-27FD-49A9-B848-5DADB62C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Working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18F7F-9C44-46E5-A421-869BE489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9C958-1B6B-40E7-9BEF-7A710A62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061AE-A29B-4D82-A0BF-9498A8DC5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3d0386f074c5c"/>
          <a:stretch xmlns:a="http://schemas.openxmlformats.org/drawingml/2006/main"/>
        </p:blipFill>
        <p:spPr>
          <a:xfrm xmlns:a="http://schemas.openxmlformats.org/drawingml/2006/main">
            <a:off x="1984067" y="1571625"/>
            <a:ext cx="4128117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ED7E0-CD30-4B85-B050-1B8123D9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4766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16 workspaces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Persistent intake and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Python financial and ML services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Role-based access and audit</a:t>
            </a:r>
          </a:p>
        </p:txBody>
      </p:sp>
    </p:spTree>
    <p:extLst>
      <p:ext uri="{BB962C8B-B14F-4D97-AF65-F5344CB8AC3E}">
        <p14:creationId xmlns:p14="http://schemas.microsoft.com/office/powerpoint/2010/main" val="1424397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2EAD4-3D52-4B61-8A30-0D08124F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Illustrative business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A81BC-EC54-4459-8809-2529A1B1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60219-D63F-4A08-9275-012CA86F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1155F-36DD-4E2A-9A52-F6B0FFBB7451}"/>
              </a:ext>
            </a:extLst>
          </p:cNvPr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096250"/>
              </a:tblGrid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labor-efficiency scenario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INR / volume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Cases per month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Time saved per case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30 minutes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Annual gross labor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3,600,000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Annual operating cost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150,000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Annual net benefit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3,450,000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74387-8C18-4123-862E-5B6DB9C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4140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4140A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140AC"/>
                </a:solidFill>
                <a:latin typeface="Arial"/>
                <a:ea typeface="Arial"/>
                <a:cs typeface="Arial"/>
              </a:rPr>
              <a:t>2,300% assumption-based ROI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DBBFE-56CC-4DB9-A958-50B4D987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Actual savings depend on adoption, review time and operating costs.</a:t>
            </a:r>
          </a:p>
        </p:txBody>
      </p:sp>
    </p:spTree>
    <p:extLst>
      <p:ext uri="{BB962C8B-B14F-4D97-AF65-F5344CB8AC3E}">
        <p14:creationId xmlns:p14="http://schemas.microsoft.com/office/powerpoint/2010/main" val="415849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8F7E1-54FD-4237-BBE9-332342AD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Adoption and validation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33D91-A5B7-4720-A63E-00E45156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9D38F-CCFD-4C38-BCB6-8E3DCDE8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ACA01-5C04-4137-92B6-8FAE93E6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Start with an internal analyst demonstration and observed usability tasks.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959C3-C880-4E17-9134-61E2C473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Measure time per case and correction rates against a manual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10097-0B4D-4CBE-B930-29D05298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Validate with authorized historical outcomes before a controlled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4AE91-FA41-43A3-A4AA-961D06F7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Public hosting requires stronger operational security and model governance.</a:t>
            </a:r>
          </a:p>
        </p:txBody>
      </p:sp>
    </p:spTree>
    <p:extLst>
      <p:ext uri="{BB962C8B-B14F-4D97-AF65-F5344CB8AC3E}">
        <p14:creationId xmlns:p14="http://schemas.microsoft.com/office/powerpoint/2010/main" val="240188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04892-4407-4AC7-A06F-8224C6D6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Python service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123D7-D600-4C88-8AD5-1BA21130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30AE6-46BA-49FD-9FCF-26F71936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205AB-064E-41E3-962B-6A1470F3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E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A1AE8-F4FA-4AF1-80F0-A3A2EA61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React / TypeScript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169AA-ED99-4AF0-B20D-0BF6AC5F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14575"/>
            <a:ext cx="0" cy="323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40A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3643E-B572-49A5-B705-E5FD2038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38425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F7"/>
          </a:solidFill>
          <a:ln xmlns:a="http://schemas.openxmlformats.org/drawingml/2006/main" w="9525">
            <a:solidFill>
              <a:srgbClr val="CCD3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C2663-D3A1-414B-A305-B6515E8B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2892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FastAPI + session authorization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4A809-398F-49CD-8875-71348D20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0" cy="323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40A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8F28C-06E5-4192-86A1-A1B68D75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49B49-87E7-4E72-842C-5086F820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9572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Python finance, documents and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3B679-5B4A-4BD7-AC0A-8D2670DE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8175"/>
            <a:ext cx="0" cy="323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40A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AF206-26D2-45E0-917A-2E68507C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72025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E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FFF5A-DF59-486B-A43B-9838393E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6252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SQLAlchemy / SQLite + audit events</a:t>
            </a:r>
          </a:p>
        </p:txBody>
      </p:sp>
    </p:spTree>
    <p:extLst>
      <p:ext uri="{BB962C8B-B14F-4D97-AF65-F5344CB8AC3E}">
        <p14:creationId xmlns:p14="http://schemas.microsoft.com/office/powerpoint/2010/main" val="7953590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3A0D6-4C18-4B79-BD06-2984A16C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Feature and financial conventions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B9470-C52B-426E-90DA-2FBCAD52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F9371-F7E6-446B-B8CC-4A47FA64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B2EFF-9685-4D0E-9DD9-F29BB960EA9B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096250"/>
              </a:tblGrid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input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Credit 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Reported, reviewed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Repayment burden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Proposed debt service relative to capacity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Delinquencies and utilization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Credit conduct indicators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Stability years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Employment or business age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Business flag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Personal / business feature mapping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2EC9B-632A-43E5-9D24-023CCBBC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Monthly personal figures and annual business figures use explicit conversions.</a:t>
            </a:r>
          </a:p>
        </p:txBody>
      </p:sp>
    </p:spTree>
    <p:extLst>
      <p:ext uri="{BB962C8B-B14F-4D97-AF65-F5344CB8AC3E}">
        <p14:creationId xmlns:p14="http://schemas.microsoft.com/office/powerpoint/2010/main" val="47622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165B1-8518-4BAB-AAE4-C4E77850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Training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182B5-AFE7-4145-8891-6D3589D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BEDBC-2978-4F46-AC15-4615CF4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46B28-5B75-45A5-881C-398DF162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1440 training rows and 360 held-out test rows from 1,800 synthetic examples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D0068-70AE-4BBA-8554-1D34FCB0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Five stratified training folds select hyperparameters by ROC-AUC.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DE856-011D-4F44-88BB-E8F4ACD9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Logistic scaling fits within the cross-validation pipeline.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E9B37-C9B0-4D20-9C02-1E23184F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The test set measures synthetic generalization after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980856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88DD2-9FA3-435A-850A-67C64ACF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Measured candidate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BDDD9-C493-4FD2-95D4-0DDF3DF8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3B194-9DA6-40AD-9E44-7C125C2C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BC11B-2BBC-441C-98BA-896BD5240EDC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619250"/>
                <a:gridCol w="1619250"/>
                <a:gridCol w="1619250"/>
                <a:gridCol w="1619250"/>
                <a:gridCol w="1619250"/>
              </a:tblGrid>
              <a:tr h="714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CV AUC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AUC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PR-AUC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Brier</a:t>
                      </a:r>
                    </a:p>
                  </a:txBody>
                  <a:tcPr marL="91440" marR="91440" marT="45720" marB="45720">
                    <a:solidFill>
                      <a:srgbClr val="20255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0.867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0.860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0.837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0.751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0.152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0.854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0.853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0.803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0.775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0.155</a:t>
                      </a:r>
                    </a:p>
                  </a:txBody>
                  <a:tcPr marL="91440" marR="91440" marT="45720" marB="45720">
                    <a:solidFill>
                      <a:srgbClr val="F0F3F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0.855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0.843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0.803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0.749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558"/>
                          </a:solidFill>
                          <a:latin typeface="Arial"/>
                          <a:ea typeface="Arial"/>
                          <a:cs typeface="Arial"/>
                        </a:rPr>
                        <a:t>0.161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59A1A-C200-4A71-99E9-BA48CE37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4140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140A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140AC"/>
                </a:solidFill>
                <a:latin typeface="Arial"/>
                <a:ea typeface="Arial"/>
                <a:cs typeface="Arial"/>
              </a:rPr>
              <a:t>CV-selected candidate: Logistic Regression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5FCD7-A5C8-4812-A252-584FE329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Synthetic data limits external validity and time-horizon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2064675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184B8-F394-49FF-9248-83E1D34B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Error analysis at threshold 0.30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BAEB8-105F-4283-B2A0-5C31B10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9AC32-77DA-4961-A919-D5FBB36E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A1BC1DE-CDD1-4F5A-8CEC-B73BFAD47044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93a34a85ca4ec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AEFF4-C26E-4EB1-9E2A-7C4AFA9E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Threshold costs need real outcome validation before lending decisions.</a:t>
            </a:r>
          </a:p>
        </p:txBody>
      </p:sp>
    </p:spTree>
    <p:extLst>
      <p:ext uri="{BB962C8B-B14F-4D97-AF65-F5344CB8AC3E}">
        <p14:creationId xmlns:p14="http://schemas.microsoft.com/office/powerpoint/2010/main" val="20135765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8714B-4462-45C3-8886-169240EB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Explainability and expected loss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61757-2EC6-47AA-8C94-7EF4DE1E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42500-47EC-49EE-B84D-10BFA231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14086-6847-4E31-90A4-1F2D4CB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SHAP attributes the saved model output to each feature and a base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CF854-EA30-40B6-B207-4172B7DD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Logistic and XGBoost explain log odds. Random Forest explains probability.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186DF-C2AA-4DD2-9D27-55977E83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Expected loss equals PD × LGD × EAD using explicit recovery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5EA28-91CE-43EF-B09B-846A8951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Synthetic PD and illustrative LGD do not represent calibrated regulatory risk.</a:t>
            </a:r>
          </a:p>
        </p:txBody>
      </p:sp>
    </p:spTree>
    <p:extLst>
      <p:ext uri="{BB962C8B-B14F-4D97-AF65-F5344CB8AC3E}">
        <p14:creationId xmlns:p14="http://schemas.microsoft.com/office/powerpoint/2010/main" val="1065962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68C53-3F65-4205-9C19-04BC8DF8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00177-2E2B-4F0A-9AC8-A0876B6F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42CAB-B24F-40A6-9137-4ECAC05A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2D936-9144-4A7B-ACD5-FD96FDDB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Create a personal borrower and upload the fictional sample credit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50A10-1879-426A-A7A4-A8A39BF3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Review extracted fields, assess capacity and inspect actual SHAP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F52A5-2BC4-4DBF-9644-B90AB856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Record a human decision and inspect the audit event and credit memo.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04B44-F39A-4F99-9A89-EEC2446A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Show a business downturn scenario and portfolio loss simulation.</a:t>
            </a:r>
          </a:p>
        </p:txBody>
      </p:sp>
    </p:spTree>
    <p:extLst>
      <p:ext uri="{BB962C8B-B14F-4D97-AF65-F5344CB8AC3E}">
        <p14:creationId xmlns:p14="http://schemas.microsoft.com/office/powerpoint/2010/main" val="17475280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9DD5C-01F0-4010-9785-A340F30B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58"/>
                </a:solidFill>
                <a:latin typeface="Arial"/>
                <a:ea typeface="Arial"/>
                <a:cs typeface="Arial"/>
              </a:rPr>
              <a:t>Technical defense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03881-FA06-4A23-ADDF-CCE0F2D6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ORION  /  Academic demonstration with synthetic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4DFDD-4923-42FC-9A18-A23DA2B8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5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D7660-4712-4DCF-BB0A-161D9FFF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Cross-validation chooses models without using test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86F22-0FAE-4D7A-AEEB-2E248775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Review and override rows retain the original model recommendation.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6E778-4EED-442F-B853-82D41D25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Text PDF and TXT extraction work. Scanned pages require Tesseract.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21072-4A1F-4309-9A2F-55692B67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5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558"/>
                </a:solidFill>
                <a:latin typeface="Arial"/>
                <a:ea typeface="Arial"/>
                <a:cs typeface="Arial"/>
              </a:rPr>
              <a:t>Real data validation, fairness checks and operational hardening remain essential.</a:t>
            </a:r>
          </a:p>
        </p:txBody>
      </p:sp>
    </p:spTree>
    <p:extLst>
      <p:ext uri="{BB962C8B-B14F-4D97-AF65-F5344CB8AC3E}">
        <p14:creationId xmlns:p14="http://schemas.microsoft.com/office/powerpoint/2010/main" val="2101399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2026-10-11T21:15:55.3380000Z</dcterms:created>
  <dcterms:modified xsi:type="dcterms:W3CDTF">2026-10-11T21:15:55.3380000Z</dcterms:modified>
</coreProperties>
</file>