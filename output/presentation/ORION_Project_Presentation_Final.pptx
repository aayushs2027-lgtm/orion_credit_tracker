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759f9c69e7742c0" /><Relationship Type="http://schemas.openxmlformats.org/officeDocument/2006/relationships/extended-properties" Target="/docProps/app.xml" Id="Rd83cbf6a75bc4088" /><Relationship Type="http://schemas.openxmlformats.org/officeDocument/2006/relationships/officeDocument" Target="/ppt/presentation.xml" Id="R2f33df25a73c42bd" /></Relationships>
</file>

<file path=ppt/presentation.xml><?xml version="1.0" encoding="utf-8"?>
<p:presentation xmlns:p="http://schemas.openxmlformats.org/presentationml/2006/main">
  <p:sldMasterIdLst>
    <p:sldMasterId xmlns:r="http://schemas.openxmlformats.org/officeDocument/2006/relationships" id="2147483648" r:id="R5b72fe18329c4cf2"/>
  </p:sldMasterIdLst>
  <p:notesMasterIdLst>
    <p:notesMasterId xmlns:r="http://schemas.openxmlformats.org/officeDocument/2006/relationships" r:id="R72c98bdf27374932"/>
  </p:notesMasterIdLst>
  <p:sldIdLst>
    <p:sldId xmlns:r="http://schemas.openxmlformats.org/officeDocument/2006/relationships" id="256" r:id="Ra34651dfbe554c64"/>
    <p:sldId xmlns:r="http://schemas.openxmlformats.org/officeDocument/2006/relationships" id="257" r:id="Rf4809f870cb141ee"/>
    <p:sldId xmlns:r="http://schemas.openxmlformats.org/officeDocument/2006/relationships" id="258" r:id="Rb460f28219634829"/>
    <p:sldId xmlns:r="http://schemas.openxmlformats.org/officeDocument/2006/relationships" id="259" r:id="R6a9a951217534779"/>
    <p:sldId xmlns:r="http://schemas.openxmlformats.org/officeDocument/2006/relationships" id="260" r:id="R5f9ac5ea1a014aaf"/>
    <p:sldId xmlns:r="http://schemas.openxmlformats.org/officeDocument/2006/relationships" id="261" r:id="R3bcbc96be1b1471f"/>
    <p:sldId xmlns:r="http://schemas.openxmlformats.org/officeDocument/2006/relationships" id="262" r:id="R9bd03f987550484e"/>
    <p:sldId xmlns:r="http://schemas.openxmlformats.org/officeDocument/2006/relationships" id="263" r:id="R4afde4423f19422f"/>
    <p:sldId xmlns:r="http://schemas.openxmlformats.org/officeDocument/2006/relationships" id="264" r:id="R2d56321fc3a7498b"/>
    <p:sldId xmlns:r="http://schemas.openxmlformats.org/officeDocument/2006/relationships" id="265" r:id="R7e8d4ba309e542dc"/>
    <p:sldId xmlns:r="http://schemas.openxmlformats.org/officeDocument/2006/relationships" id="266" r:id="Rfbaa693c7b6b475f"/>
    <p:sldId xmlns:r="http://schemas.openxmlformats.org/officeDocument/2006/relationships" id="267" r:id="Rea68de155fe746c8"/>
    <p:sldId xmlns:r="http://schemas.openxmlformats.org/officeDocument/2006/relationships" id="268" r:id="R0b565e944ab342c2"/>
    <p:sldId xmlns:r="http://schemas.openxmlformats.org/officeDocument/2006/relationships" id="269" r:id="R7e4df9beefb149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d1c4c3c9594c20" /><Relationship Type="http://schemas.openxmlformats.org/officeDocument/2006/relationships/slideMaster" Target="/ppt/slideMasters/slideMaster1.xml" Id="R5b72fe18329c4cf2" /><Relationship Type="http://schemas.openxmlformats.org/officeDocument/2006/relationships/notesMaster" Target="/ppt/notesMasters/notesMaster1.xml" Id="R72c98bdf27374932" /><Relationship Type="http://schemas.openxmlformats.org/officeDocument/2006/relationships/presProps" Target="/ppt/presProps.xml" Id="Rcbcdf8220e6a49e8" /><Relationship Type="http://schemas.openxmlformats.org/officeDocument/2006/relationships/tableStyles" Target="/ppt/tableStyles.xml" Id="Rbf0a905004c949c9" /><Relationship Type="http://schemas.openxmlformats.org/officeDocument/2006/relationships/slide" Target="/ppt/slides/slide1.xml" Id="Ra34651dfbe554c64" /><Relationship Type="http://schemas.openxmlformats.org/officeDocument/2006/relationships/slide" Target="/ppt/slides/slide2.xml" Id="Rf4809f870cb141ee" /><Relationship Type="http://schemas.openxmlformats.org/officeDocument/2006/relationships/slide" Target="/ppt/slides/slide3.xml" Id="Rb460f28219634829" /><Relationship Type="http://schemas.openxmlformats.org/officeDocument/2006/relationships/slide" Target="/ppt/slides/slide4.xml" Id="R6a9a951217534779" /><Relationship Type="http://schemas.openxmlformats.org/officeDocument/2006/relationships/slide" Target="/ppt/slides/slide5.xml" Id="R5f9ac5ea1a014aaf" /><Relationship Type="http://schemas.openxmlformats.org/officeDocument/2006/relationships/slide" Target="/ppt/slides/slide6.xml" Id="R3bcbc96be1b1471f" /><Relationship Type="http://schemas.openxmlformats.org/officeDocument/2006/relationships/slide" Target="/ppt/slides/slide7.xml" Id="R9bd03f987550484e" /><Relationship Type="http://schemas.openxmlformats.org/officeDocument/2006/relationships/slide" Target="/ppt/slides/slide8.xml" Id="R4afde4423f19422f" /><Relationship Type="http://schemas.openxmlformats.org/officeDocument/2006/relationships/slide" Target="/ppt/slides/slide9.xml" Id="R2d56321fc3a7498b" /><Relationship Type="http://schemas.openxmlformats.org/officeDocument/2006/relationships/slide" Target="/ppt/slides/slide10.xml" Id="R7e8d4ba309e542dc" /><Relationship Type="http://schemas.openxmlformats.org/officeDocument/2006/relationships/slide" Target="/ppt/slides/slide11.xml" Id="Rfbaa693c7b6b475f" /><Relationship Type="http://schemas.openxmlformats.org/officeDocument/2006/relationships/slide" Target="/ppt/slides/slide12.xml" Id="Rea68de155fe746c8" /><Relationship Type="http://schemas.openxmlformats.org/officeDocument/2006/relationships/slide" Target="/ppt/slides/slide13.xml" Id="R0b565e944ab342c2" /><Relationship Type="http://schemas.openxmlformats.org/officeDocument/2006/relationships/slide" Target="/ppt/slides/slide14.xml" Id="R7e4df9beefb149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e2b52b529141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2b9a5c5a5b4937" /><Relationship Type="http://schemas.openxmlformats.org/officeDocument/2006/relationships/notesMaster" Target="/ppt/notesMasters/notesMaster1.xml" Id="R021ae9c8a7cd41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34b242705349a8" /><Relationship Type="http://schemas.openxmlformats.org/officeDocument/2006/relationships/notesMaster" Target="/ppt/notesMasters/notesMaster1.xml" Id="Re16a8410030248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53e6476b3e403d" /><Relationship Type="http://schemas.openxmlformats.org/officeDocument/2006/relationships/notesMaster" Target="/ppt/notesMasters/notesMaster1.xml" Id="Rd5d0b2460de243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d473208b1c4143" /><Relationship Type="http://schemas.openxmlformats.org/officeDocument/2006/relationships/notesMaster" Target="/ppt/notesMasters/notesMaster1.xml" Id="R629d6258fc0441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092628c4c440f0" /><Relationship Type="http://schemas.openxmlformats.org/officeDocument/2006/relationships/notesMaster" Target="/ppt/notesMasters/notesMaster1.xml" Id="Rc1f53884414e4e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da7f7d5c6d4855" /><Relationship Type="http://schemas.openxmlformats.org/officeDocument/2006/relationships/notesMaster" Target="/ppt/notesMasters/notesMaster1.xml" Id="Re070c389b79b44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35d66c60e8f451a" /><Relationship Type="http://schemas.openxmlformats.org/officeDocument/2006/relationships/notesMaster" Target="/ppt/notesMasters/notesMaster1.xml" Id="Re10dfadaab354d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b08685587a412f" /><Relationship Type="http://schemas.openxmlformats.org/officeDocument/2006/relationships/notesMaster" Target="/ppt/notesMasters/notesMaster1.xml" Id="R432f4fe78be84b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5b975f1f364fe5" /><Relationship Type="http://schemas.openxmlformats.org/officeDocument/2006/relationships/notesMaster" Target="/ppt/notesMasters/notesMaster1.xml" Id="Rde199df1ea164e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c4ca650c2a43e5" /><Relationship Type="http://schemas.openxmlformats.org/officeDocument/2006/relationships/notesMaster" Target="/ppt/notesMasters/notesMaster1.xml" Id="R3a93e5647e7441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c74358d53842f3" /><Relationship Type="http://schemas.openxmlformats.org/officeDocument/2006/relationships/notesMaster" Target="/ppt/notesMasters/notesMaster1.xml" Id="Raf5cb11d1f944c7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dac0ef29594d4d" /><Relationship Type="http://schemas.openxmlformats.org/officeDocument/2006/relationships/notesMaster" Target="/ppt/notesMasters/notesMaster1.xml" Id="R6756c34c740a4f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40fa52a20d3433b" /><Relationship Type="http://schemas.openxmlformats.org/officeDocument/2006/relationships/notesMaster" Target="/ppt/notesMasters/notesMaster1.xml" Id="R21b79c79d182425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576d52175364e82" /><Relationship Type="http://schemas.openxmlformats.org/officeDocument/2006/relationships/notesMaster" Target="/ppt/notesMasters/notesMaster1.xml" Id="R6012f29073cf44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35 seconds. ORION is a local academic application for credit decision support. All data and model outcomes in this deck come from synthetic educational data. Source: README.md, docs/ARCHITECTURE.md, docs/KNOWN_LIMITATIONS.md.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Screenshot is the actual ORION Command Center captured during local browser verification. Crop retains the top command-center view. All borrowers and financial values are fictional. Source: docs/screenshots/command-center.png, backend/main.py, frontend source. The sixteen navigation workspaces are preserved from the supplied screenshot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These workflow problems and benefits are product hypotheses inferred from the supplied project scope, not market research. Initial proposed route is an internal analyst pilot. Measure handling time, correction rate and review consistency against an observed manual baseline before commercial adoption. Source: project directive, docs/PRESENTATION_AND_DEMO.md.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These are intended user personas, not existing commercial customers. An internal lending team is the proposed initial audience. Analyst begins the case, committee records the final outcome and risk leadership reviews portfolio scenarios. Source: implemented role permissions and docs/PRESENTATION_AND_DEMO.md.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Entire business case is hypothetical, not measured savings or a supplier quote. Assumptions: 1,000 cases/month, INR600 labor value/hour, INR750,000 one-time implementation and INR450,000 first-year operations. Total year-one cost INR1.2m. At 30 minutes saved: 6,000 hours, INR3.6m gross capacity value, INR2.4m net, 200% ROI. Formula: (annual value minus year-one cost)/year-one cost. Ten minutes breaks even. Time released does not automatically create cash savings. Source calculation: scripts/presentation_roi.py and tmp/deck/roi.json.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seconds. Editable diagram of implemented local components. UI sends requests to FastAPI. Session authorization and roles protect operations. Python services handle finance, documents and ML. SQLAlchemy persists records and audit events in SQLite. Trusted local versioned model artifacts feed inference. Extraction supports text PDF/TXT, scanned OCR requires optional Tesseract. No live bureau or external LLM exists. Source: backend/main.py, backend/database.py, backend/finance.py, backend/documents.py, src/model.py,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 Six features are defined explicitly by the synthetic generator and inference schema. This is domain mapping, not empirical feature selection on real bank outcomes. Personal burden maps monthly obligations and proposed EMI to income. Business burden maps annual debt service to annual cash flow. Score, utilization and delinquency values require reviewed input. No demographic fairness conclusion is supported. Collateral affects LGD, not the PD vector. Sources: src/data.py, src/model.py, backend/finance.py.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Training uses 1,440 synthetic rows. GridSearchCV evaluates five stratified folds by ROC-AUC. Logistic scaling remains inside each training fold pipeline. C is inverse L2 regularization strength. Tree models use 100 estimators. Winner is selected by mean training CV AUC. Test results are not used to choose the winner. Source: src/model.py and docs/MODEL_EVALUATION.json.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All values are measured on synthetic training data. Five-fold mean ROC-AUC and one standard deviation: Logistic 0.867473 +/- 0.013360, Random Forest 0.854464 +/- 0.010095, XGBoost 0.855240 +/- 0.011568. These overlapping fold dispersions do not establish statistically significant superiority. Logistic selected by best mean CV AUC. Generator uses an additive logistic outcome mechanism, which may favor Logistic Regression. Source: docs/MODEL_EVALUATION.json and src/data.py.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Executed synthetic test metrics for tuned candidates. ROC-AUC and PR-AUC are ranking metrics, F1 is threshold-dependent and Brier is squared probability error, lower is better. Threshold 0.30. Logistic is CV-selected, RF achieves higher F1 on this test set. Do not change model selection based on this test comparison. This random synthetic split gives no out-of-time or real lending validation. Source: docs/MODEL_EVALUATION.json.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seconds. Threshold 0.30 labels a case as default when model probability is at least 0.30. Selected logistic confusion matrix actual rows non-default/default, predicted columns non-default/default: 119,77;19,145. Test data has 196 non-default and164 default cases. FP77 could burden good applicants, FN19 could miss defaults. LR precision65.3%, recall88.4%. RF has FP73 FN14. Outcome costs and policy constraints are needed for threshold optimization on validation data, followed by a fresh independent test. Source: docs/MODEL_EVALUATION.json.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 Actual SHAP contributions explain the stored model output. Logistic and XGBoost use log-odds output, Random Forest probability. Additivity tests exist for all three. Financial decisions separately assess personal DTI/business DSCR and EL=PD*LGD*EAD. Collateral adjusts LGD, not PD. Reviewers can override and must record reasons. Original model assessments remain saved. Mutations create audit events. Sources: src/model.py, backend/finance.py, backend/main.py, tests/test_orion.py.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seconds. Suggested flow: create or open a fictional borrower, review uploaded text-document fields, assess the application, inspect SHAP and finance, record a decision and show audit/credit memo. Pre-stage a business case for the scenario if time allows. Do not claim a live bureau call. Server was stopped on user request and must be started deliberately before presenting. Source: docs/PRESENTATION_AND_DEMO.md.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All model results use synthetic educational data, no real bank default outcomes. No production lending approval or regulatory certification claimed. Proposed next steps: authorized historical outcomes, out-of-time validation, empirical threshold costs, calibration and fairness analysis, document depth and production operational security. Scanned OCR needs Tesseract. Initial strategy is a supervised internal pilot with handling-time measurements. Source: docs/KNOWN_LIMITATIONS.md, docs/MODEL_EVALUATION.json and docs/TEST_REPORT.md.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d9fab6f9f343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1beacee700459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19a5e78e088477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5a6d1a6f5f74c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c104dda615e48a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cfe62847ba4c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546B1D-176F-4434-B3E6-3E236DD1B95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3F778CA-131C-4480-ABE7-D11C2294FF2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E061E89-1E1D-4A58-8357-67F00BFAE73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DEAE67-F309-46DE-89EE-F093203DBF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FA5FF0A-4E09-4BC2-B005-30D9DF4F53A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820A64E-E373-4181-9E07-35F3C5486B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1CCB7C-D3A7-4850-8BBF-77431980AC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A2B268-6BDB-4C32-8CBA-520C3076EF4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C35611-96A5-4AE0-A433-1690710C05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DECE34-916E-49C4-AB9A-8D868B2ED0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58b0c7bcab45df" /><Relationship Type="http://schemas.openxmlformats.org/officeDocument/2006/relationships/slideLayout" Target="/ppt/slideLayouts/slideLayout1.xml" Id="R1978e674f2df47c5" /><Relationship Type="http://schemas.openxmlformats.org/officeDocument/2006/relationships/slideLayout" Target="/ppt/slideLayouts/slideLayout2.xml" Id="R5eb93756b70c404e" /><Relationship Type="http://schemas.openxmlformats.org/officeDocument/2006/relationships/slideLayout" Target="/ppt/slideLayouts/slideLayout3.xml" Id="Rd517add5a7d84e01" /><Relationship Type="http://schemas.openxmlformats.org/officeDocument/2006/relationships/slideLayout" Target="/ppt/slideLayouts/slideLayout4.xml" Id="Re23b7854ed114db8" /><Relationship Type="http://schemas.openxmlformats.org/officeDocument/2006/relationships/slideLayout" Target="/ppt/slideLayouts/slideLayout5.xml" Id="Reebdeb8c95e8406a" /><Relationship Type="http://schemas.openxmlformats.org/officeDocument/2006/relationships/slideLayout" Target="/ppt/slideLayouts/slideLayout6.xml" Id="R600f82f73c7b47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78e674f2df47c5"/>
    <p:sldLayoutId xmlns:r="http://schemas.openxmlformats.org/officeDocument/2006/relationships" id="2147483650" r:id="R5eb93756b70c404e"/>
    <p:sldLayoutId xmlns:r="http://schemas.openxmlformats.org/officeDocument/2006/relationships" id="2147483651" r:id="Rd517add5a7d84e01"/>
    <p:sldLayoutId xmlns:r="http://schemas.openxmlformats.org/officeDocument/2006/relationships" id="2147483652" r:id="Re23b7854ed114db8"/>
    <p:sldLayoutId xmlns:r="http://schemas.openxmlformats.org/officeDocument/2006/relationships" id="2147483653" r:id="Reebdeb8c95e8406a"/>
    <p:sldLayoutId xmlns:r="http://schemas.openxmlformats.org/officeDocument/2006/relationships" id="2147483654" r:id="R600f82f73c7b47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306d5b86b604beb" /><Relationship Type="http://schemas.openxmlformats.org/officeDocument/2006/relationships/notesSlide" Target="/ppt/notesSlides/notesSlide1.xml" Id="R6df6cefbb88e4d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9269a08f9334421" /><Relationship Type="http://schemas.openxmlformats.org/officeDocument/2006/relationships/image" Target="/ppt/media/image.png" Id="Rb85095e47a3e402f" /><Relationship Type="http://schemas.openxmlformats.org/officeDocument/2006/relationships/notesSlide" Target="/ppt/notesSlides/notesSlide2.xml" Id="R0c3830ee0a284e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a0b0179875442b6" /><Relationship Type="http://schemas.openxmlformats.org/officeDocument/2006/relationships/notesSlide" Target="/ppt/notesSlides/notesSlide3.xml" Id="R6039d02c73eb48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910bf9200e5453a" /><Relationship Type="http://schemas.openxmlformats.org/officeDocument/2006/relationships/notesSlide" Target="/ppt/notesSlides/notesSlide4.xml" Id="R1ac4e1adfac647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0601b26898e4911" /><Relationship Type="http://schemas.openxmlformats.org/officeDocument/2006/relationships/chart" Target="/ppt/slides/charts/chart1.xml" Id="R7f762be27c054f8c" /><Relationship Type="http://schemas.openxmlformats.org/officeDocument/2006/relationships/notesSlide" Target="/ppt/notesSlides/notesSlide5.xml" Id="Ra16dbb6f9a5945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6ef051d184c49ff" /><Relationship Type="http://schemas.openxmlformats.org/officeDocument/2006/relationships/notesSlide" Target="/ppt/notesSlides/notesSlide6.xml" Id="Rb764bef5692d47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8f8c342c9f84d46" /><Relationship Type="http://schemas.openxmlformats.org/officeDocument/2006/relationships/notesSlide" Target="/ppt/notesSlides/notesSlide7.xml" Id="R9206420d233b4d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9b420a01b5e41e2" /><Relationship Type="http://schemas.openxmlformats.org/officeDocument/2006/relationships/notesSlide" Target="/ppt/notesSlides/notesSlide8.xml" Id="R45ffc180969a41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c6550abb9744fc0" /><Relationship Type="http://schemas.openxmlformats.org/officeDocument/2006/relationships/chart" Target="/ppt/slides/charts/chart2.xml" Id="R47a3fc323c554784" /><Relationship Type="http://schemas.openxmlformats.org/officeDocument/2006/relationships/notesSlide" Target="/ppt/notesSlides/notesSlide9.xml" Id="R4174c6247f2d4c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b962171e0df467d" /><Relationship Type="http://schemas.openxmlformats.org/officeDocument/2006/relationships/notesSlide" Target="/ppt/notesSlides/notesSlide10.xml" Id="R31f10305c49d4c9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a2363378d9a4954" /><Relationship Type="http://schemas.openxmlformats.org/officeDocument/2006/relationships/chart" Target="/ppt/slides/charts/chart3.xml" Id="R231060566a1c40d7" /><Relationship Type="http://schemas.openxmlformats.org/officeDocument/2006/relationships/notesSlide" Target="/ppt/notesSlides/notesSlide11.xml" Id="R5de52b0cd04f452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9c3d1afd6734cb6" /><Relationship Type="http://schemas.openxmlformats.org/officeDocument/2006/relationships/notesSlide" Target="/ppt/notesSlides/notesSlide12.xml" Id="R2702e125eef94a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12f66d760304a00" /><Relationship Type="http://schemas.openxmlformats.org/officeDocument/2006/relationships/notesSlide" Target="/ppt/notesSlides/notesSlide13.xml" Id="Ra29b88dc418d4a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eef932272c44473" /><Relationship Type="http://schemas.openxmlformats.org/officeDocument/2006/relationships/notesSlide" Target="/ppt/notesSlides/notesSlide14.xml" Id="Rf41b530939f1482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Annual labor value</c:v>
          </c:tx>
          <c:spPr>
            <a:solidFill xmlns:a="http://schemas.openxmlformats.org/drawingml/2006/main">
              <a:srgbClr val="4C50BE"/>
            </a:solidFill>
          </c:spPr>
          <c:invertIfNegative val="0"/>
          <c:cat>
            <c:strRef>
              <c:f>'Chart Data'!$A$2:$A$4</c:f>
              <c:strCache>
                <c:ptCount val="3"/>
                <c:pt idx="0">
                  <c:v>10 min</c:v>
                </c:pt>
                <c:pt idx="1">
                  <c:v>20 min</c:v>
                </c:pt>
                <c:pt idx="2">
                  <c:v>30 min</c:v>
                </c:pt>
              </c:strCache>
            </c:strRef>
          </c:cat>
          <c:val>
            <c:numRef>
              <c:f>'Chart Data'!$B$2:$B$4</c:f>
              <c:numCache>
                <c:formatCode>0</c:formatCode>
                <c:ptCount val="3"/>
                <c:pt idx="0">
                  <c:v>12</c:v>
                </c:pt>
                <c:pt idx="1">
                  <c:v>24</c:v>
                </c:pt>
                <c:pt idx="2">
                  <c:v>36</c:v>
                </c:pt>
              </c:numCache>
            </c:numRef>
          </c:val>
        </c:ser>
        <c:ser>
          <c:idx val="1"/>
          <c:order val="1"/>
          <c:tx>
            <c:v>Year-one cost</c:v>
          </c:tx>
          <c:spPr>
            <a:solidFill xmlns:a="http://schemas.openxmlformats.org/drawingml/2006/main">
              <a:srgbClr val="B7C2D7"/>
            </a:solidFill>
          </c:spPr>
          <c:invertIfNegative val="0"/>
          <c:cat>
            <c:strRef>
              <c:f>'Chart Data'!$C$2:$C$4</c:f>
              <c:strCache>
                <c:ptCount val="3"/>
                <c:pt idx="0">
                  <c:v>10 min</c:v>
                </c:pt>
                <c:pt idx="1">
                  <c:v>20 min</c:v>
                </c:pt>
                <c:pt idx="2">
                  <c:v>30 min</c:v>
                </c:pt>
              </c:strCache>
            </c:strRef>
          </c:cat>
          <c:val>
            <c:numRef>
              <c:f>'Chart Data'!$D$2:$D$4</c:f>
              <c:numCache>
                <c:formatCode>0</c:formatCode>
                <c:ptCount val="3"/>
                <c:pt idx="0">
                  <c:v>12</c:v>
                </c:pt>
                <c:pt idx="1">
                  <c:v>12</c:v>
                </c:pt>
                <c:pt idx="2">
                  <c:v>12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b="1">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CV ROC-AUC</c:v>
          </c:tx>
          <c:spPr>
            <a:solidFill xmlns:a="http://schemas.openxmlformats.org/drawingml/2006/main">
              <a:srgbClr val="4C50BE"/>
            </a:solidFill>
          </c:spPr>
          <c:invertIfNegative val="0"/>
          <c:cat>
            <c:strRef>
              <c:f>'Chart Data'!$A$2:$A$4</c:f>
              <c:strCache>
                <c:ptCount val="3"/>
                <c:pt idx="0">
                  <c:v>Logistic Regression</c:v>
                </c:pt>
                <c:pt idx="1">
                  <c:v>Random Forest</c:v>
                </c:pt>
                <c:pt idx="2">
                  <c:v>XGBoost</c:v>
                </c:pt>
              </c:strCache>
            </c:strRef>
          </c:cat>
          <c:val>
            <c:numRef>
              <c:f>'Chart Data'!$B$2:$B$4</c:f>
              <c:numCache>
                <c:formatCode>0.000</c:formatCode>
                <c:ptCount val="3"/>
                <c:pt idx="0">
                  <c:v>0.867</c:v>
                </c:pt>
                <c:pt idx="1">
                  <c:v>0.854</c:v>
                </c:pt>
                <c:pt idx="2">
                  <c:v>0.855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b="1">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1"/>
          <c:min val="0"/>
        </c:scaling>
        <c:delete val="0"/>
        <c:axPos val="l"/>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False positives</c:v>
          </c:tx>
          <c:spPr>
            <a:solidFill xmlns:a="http://schemas.openxmlformats.org/drawingml/2006/main">
              <a:srgbClr val="4C50BE"/>
            </a:solidFill>
          </c:spPr>
          <c:invertIfNegative val="0"/>
          <c:cat>
            <c:strRef>
              <c:f>'Chart Data'!$A$2:$A$4</c:f>
              <c:strCache>
                <c:ptCount val="3"/>
                <c:pt idx="0">
                  <c:v>Logistic</c:v>
                </c:pt>
                <c:pt idx="1">
                  <c:v>Random Forest</c:v>
                </c:pt>
                <c:pt idx="2">
                  <c:v>XGBoost</c:v>
                </c:pt>
              </c:strCache>
            </c:strRef>
          </c:cat>
          <c:val>
            <c:numRef>
              <c:f>'Chart Data'!$B$2:$B$4</c:f>
              <c:numCache>
                <c:formatCode>0</c:formatCode>
                <c:ptCount val="3"/>
                <c:pt idx="0">
                  <c:v>77</c:v>
                </c:pt>
                <c:pt idx="1">
                  <c:v>73</c:v>
                </c:pt>
                <c:pt idx="2">
                  <c:v>85</c:v>
                </c:pt>
              </c:numCache>
            </c:numRef>
          </c:val>
        </c:ser>
        <c:ser>
          <c:idx val="1"/>
          <c:order val="1"/>
          <c:tx>
            <c:v>False negatives</c:v>
          </c:tx>
          <c:spPr>
            <a:solidFill xmlns:a="http://schemas.openxmlformats.org/drawingml/2006/main">
              <a:srgbClr val="C26C40"/>
            </a:solidFill>
          </c:spPr>
          <c:invertIfNegative val="0"/>
          <c:cat>
            <c:strRef>
              <c:f>'Chart Data'!$C$2:$C$4</c:f>
              <c:strCache>
                <c:ptCount val="3"/>
                <c:pt idx="0">
                  <c:v>Logistic</c:v>
                </c:pt>
                <c:pt idx="1">
                  <c:v>Random Forest</c:v>
                </c:pt>
                <c:pt idx="2">
                  <c:v>XGBoost</c:v>
                </c:pt>
              </c:strCache>
            </c:strRef>
          </c:cat>
          <c:val>
            <c:numRef>
              <c:f>'Chart Data'!$D$2:$D$4</c:f>
              <c:numCache>
                <c:formatCode>0</c:formatCode>
                <c:ptCount val="3"/>
                <c:pt idx="0">
                  <c:v>19</c:v>
                </c:pt>
                <c:pt idx="1">
                  <c:v>14</c:v>
                </c:pt>
                <c:pt idx="2">
                  <c:v>15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b="1">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54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B692019-BA66-4636-9AE3-17AE3E676EA4}"/>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AEBDE5"/>
                </a:solidFill>
                <a:latin typeface="Arial"/>
                <a:ea typeface="Arial"/>
                <a:cs typeface="Arial"/>
              </a:defRPr>
            </a:defPPr>
          </a:lstStyle>
          <a:p xmlns:a="http://schemas.openxmlformats.org/drawingml/2006/main">
            <a:pPr>
              <a:defRPr sz="1200" b="1">
                <a:solidFill>
                  <a:srgbClr val="AEBDE5"/>
                </a:solidFill>
                <a:latin typeface="Arial"/>
                <a:ea typeface="Arial"/>
                <a:cs typeface="Arial"/>
              </a:defRPr>
            </a:pPr>
            <a:r>
              <a:rPr sz="1200" b="1">
                <a:solidFill>
                  <a:srgbClr val="AEBDE5"/>
                </a:solidFill>
                <a:latin typeface="Arial"/>
                <a:ea typeface="Arial"/>
                <a:cs typeface="Arial"/>
              </a:rPr>
              <a:t>PROJECT</a:t>
            </a:r>
          </a:p>
        </p:txBody>
      </p:sp>
      <p:sp>
        <p:nvSpPr>
          <p:cNvPr id="2" name="">
            <a:extLst xmlns:a="http://schemas.openxmlformats.org/drawingml/2006/main">
              <a:ext uri="{FF2B5EF4-FFF2-40B4-BE49-F238E27FC236}">
                <a16:creationId xmlns:a16="http://schemas.microsoft.com/office/drawing/2014/main" id="{9AA2F958-1C4A-4477-BB78-DE86EF4B1563}"/>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Our project</a:t>
            </a:r>
          </a:p>
        </p:txBody>
      </p:sp>
      <p:sp>
        <p:nvSpPr>
          <p:cNvPr id="3" name="">
            <a:extLst xmlns:a="http://schemas.openxmlformats.org/drawingml/2006/main">
              <a:ext uri="{FF2B5EF4-FFF2-40B4-BE49-F238E27FC236}">
                <a16:creationId xmlns:a16="http://schemas.microsoft.com/office/drawing/2014/main" id="{1B96CF85-08C8-4CED-BD02-0F4E563EC900}"/>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EBDE5"/>
                </a:solidFill>
                <a:latin typeface="Arial"/>
                <a:ea typeface="Arial"/>
                <a:cs typeface="Arial"/>
              </a:defRPr>
            </a:defPPr>
          </a:lstStyle>
          <a:p xmlns:a="http://schemas.openxmlformats.org/drawingml/2006/main">
            <a:pPr>
              <a:defRPr sz="1125" b="0">
                <a:solidFill>
                  <a:srgbClr val="AEBDE5"/>
                </a:solidFill>
                <a:latin typeface="Arial"/>
                <a:ea typeface="Arial"/>
                <a:cs typeface="Arial"/>
              </a:defRPr>
            </a:pPr>
            <a:r>
              <a:rPr sz="1125" b="0">
                <a:solidFill>
                  <a:srgbClr val="AEBDE5"/>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255A02DB-4BF5-4AD5-B23E-978607EB99D2}"/>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EBDE5"/>
                </a:solidFill>
                <a:latin typeface="Arial"/>
                <a:ea typeface="Arial"/>
                <a:cs typeface="Arial"/>
              </a:defRPr>
            </a:defPPr>
          </a:lstStyle>
          <a:p xmlns:a="http://schemas.openxmlformats.org/drawingml/2006/main">
            <a:pPr>
              <a:defRPr sz="1125" b="0">
                <a:solidFill>
                  <a:srgbClr val="AEBDE5"/>
                </a:solidFill>
                <a:latin typeface="Arial"/>
                <a:ea typeface="Arial"/>
                <a:cs typeface="Arial"/>
              </a:defRPr>
            </a:pPr>
            <a:r>
              <a:rPr sz="1125" b="0">
                <a:solidFill>
                  <a:srgbClr val="AEBDE5"/>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0E6CA14-0ECD-4E35-8E14-0914E232368C}"/>
              </a:ext>
            </a:extLst>
          </p:cNvPr>
          <p:cNvSpPr>
            <a:spLocks xmlns:a="http://schemas.openxmlformats.org/drawingml/2006/main" noGrp="1"/>
          </p:cNvSpPr>
          <p:nvPr/>
        </p:nvSpPr>
        <p:spPr>
          <a:xfrm xmlns:a="http://schemas.openxmlformats.org/drawingml/2006/main">
            <a:off x="609600" y="1866900"/>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050" b="1">
                <a:solidFill>
                  <a:srgbClr val="FFFFFF"/>
                </a:solidFill>
                <a:latin typeface="Arial"/>
                <a:ea typeface="Arial"/>
                <a:cs typeface="Arial"/>
              </a:defRPr>
            </a:defPPr>
          </a:lstStyle>
          <a:p xmlns:a="http://schemas.openxmlformats.org/drawingml/2006/main">
            <a:pPr>
              <a:defRPr sz="7050" b="1">
                <a:solidFill>
                  <a:srgbClr val="FFFFFF"/>
                </a:solidFill>
                <a:latin typeface="Arial"/>
                <a:ea typeface="Arial"/>
                <a:cs typeface="Arial"/>
              </a:defRPr>
            </a:pPr>
            <a:r>
              <a:rPr sz="7050" b="1">
                <a:solidFill>
                  <a:srgbClr val="FFFFFF"/>
                </a:solidFill>
                <a:latin typeface="Arial"/>
                <a:ea typeface="Arial"/>
                <a:cs typeface="Arial"/>
              </a:rPr>
              <a:t>ORION</a:t>
            </a:r>
          </a:p>
        </p:txBody>
      </p:sp>
      <p:sp>
        <p:nvSpPr>
          <p:cNvPr id="6" name="">
            <a:extLst xmlns:a="http://schemas.openxmlformats.org/drawingml/2006/main">
              <a:ext uri="{FF2B5EF4-FFF2-40B4-BE49-F238E27FC236}">
                <a16:creationId xmlns:a16="http://schemas.microsoft.com/office/drawing/2014/main" id="{0F028C25-1086-4D9D-895E-FFB758010D61}"/>
              </a:ext>
            </a:extLst>
          </p:cNvPr>
          <p:cNvSpPr>
            <a:spLocks xmlns:a="http://schemas.openxmlformats.org/drawingml/2006/main" noGrp="1"/>
          </p:cNvSpPr>
          <p:nvPr/>
        </p:nvSpPr>
        <p:spPr>
          <a:xfrm xmlns:a="http://schemas.openxmlformats.org/drawingml/2006/main">
            <a:off x="647700" y="3209925"/>
            <a:ext cx="1028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FFFFFF"/>
                </a:solidFill>
                <a:latin typeface="Arial"/>
                <a:ea typeface="Arial"/>
                <a:cs typeface="Arial"/>
              </a:defRPr>
            </a:defPPr>
          </a:lstStyle>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Enterprise Credit Intelligence</a:t>
            </a:r>
          </a:p>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&amp; Underwriting</a:t>
            </a:r>
          </a:p>
        </p:txBody>
      </p:sp>
      <p:sp>
        <p:nvSpPr>
          <p:cNvPr id="7" name="">
            <a:extLst xmlns:a="http://schemas.openxmlformats.org/drawingml/2006/main">
              <a:ext uri="{FF2B5EF4-FFF2-40B4-BE49-F238E27FC236}">
                <a16:creationId xmlns:a16="http://schemas.microsoft.com/office/drawing/2014/main" id="{439FDA44-2FCF-4C28-8E73-6224299C2743}"/>
              </a:ext>
            </a:extLst>
          </p:cNvPr>
          <p:cNvSpPr>
            <a:spLocks xmlns:a="http://schemas.openxmlformats.org/drawingml/2006/main" noGrp="1"/>
          </p:cNvSpPr>
          <p:nvPr/>
        </p:nvSpPr>
        <p:spPr>
          <a:xfrm xmlns:a="http://schemas.openxmlformats.org/drawingml/2006/main">
            <a:off x="647700" y="4953000"/>
            <a:ext cx="10001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BDC9E6"/>
                </a:solidFill>
                <a:latin typeface="Arial"/>
                <a:ea typeface="Arial"/>
                <a:cs typeface="Arial"/>
              </a:defRPr>
            </a:defPPr>
          </a:lstStyle>
          <a:p xmlns:a="http://schemas.openxmlformats.org/drawingml/2006/main">
            <a:pPr>
              <a:defRPr sz="2175" b="0">
                <a:solidFill>
                  <a:srgbClr val="BDC9E6"/>
                </a:solidFill>
                <a:latin typeface="Arial"/>
                <a:ea typeface="Arial"/>
                <a:cs typeface="Arial"/>
              </a:defRPr>
            </a:pPr>
            <a:r>
              <a:rPr sz="2175" b="0">
                <a:solidFill>
                  <a:srgbClr val="BDC9E6"/>
                </a:solidFill>
                <a:latin typeface="Arial"/>
                <a:ea typeface="Arial"/>
                <a:cs typeface="Arial"/>
              </a:rPr>
              <a:t>An analyst workbench with explainable models</a:t>
            </a:r>
          </a:p>
          <a:p xmlns:a="http://schemas.openxmlformats.org/drawingml/2006/main">
            <a:pPr>
              <a:defRPr sz="2175" b="0">
                <a:solidFill>
                  <a:srgbClr val="BDC9E6"/>
                </a:solidFill>
                <a:latin typeface="Arial"/>
                <a:ea typeface="Arial"/>
                <a:cs typeface="Arial"/>
              </a:defRPr>
            </a:pPr>
            <a:r>
              <a:rPr sz="2175" b="0">
                <a:solidFill>
                  <a:srgbClr val="BDC9E6"/>
                </a:solidFill>
                <a:latin typeface="Arial"/>
                <a:ea typeface="Arial"/>
                <a:cs typeface="Arial"/>
              </a:rPr>
              <a:t>and recorded human decisions</a:t>
            </a:r>
          </a:p>
        </p:txBody>
      </p:sp>
    </p:spTree>
    <p:extLst>
      <p:ext uri="{BB962C8B-B14F-4D97-AF65-F5344CB8AC3E}">
        <p14:creationId xmlns:p14="http://schemas.microsoft.com/office/powerpoint/2010/main" val="96601287"/>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A306AF2-581B-40CA-BE19-5650494A5CF9}"/>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PROJECT</a:t>
            </a:r>
          </a:p>
        </p:txBody>
      </p:sp>
      <p:sp>
        <p:nvSpPr>
          <p:cNvPr id="2" name="">
            <a:extLst xmlns:a="http://schemas.openxmlformats.org/drawingml/2006/main">
              <a:ext uri="{FF2B5EF4-FFF2-40B4-BE49-F238E27FC236}">
                <a16:creationId xmlns:a16="http://schemas.microsoft.com/office/drawing/2014/main" id="{7DBFBD62-A245-4AB6-B93E-2949D301449D}"/>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Our project in action</a:t>
            </a:r>
          </a:p>
        </p:txBody>
      </p:sp>
      <p:sp>
        <p:nvSpPr>
          <p:cNvPr id="3" name="">
            <a:extLst xmlns:a="http://schemas.openxmlformats.org/drawingml/2006/main">
              <a:ext uri="{FF2B5EF4-FFF2-40B4-BE49-F238E27FC236}">
                <a16:creationId xmlns:a16="http://schemas.microsoft.com/office/drawing/2014/main" id="{FB94B818-423B-42AE-8686-33DE1577B7FD}"/>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F6708911-96F2-4A3B-8F82-FA666A81FAA0}"/>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02</a:t>
            </a:r>
          </a:p>
        </p:txBody>
      </p:sp>
      <p:pic>
        <p:nvPicPr>
          <p:cNvPr id="5" name="">
            <a:extLst xmlns:a="http://schemas.openxmlformats.org/drawingml/2006/main">
              <a:ext uri="{FF2B5EF4-FFF2-40B4-BE49-F238E27FC236}">
                <a16:creationId xmlns:a16="http://schemas.microsoft.com/office/drawing/2014/main" id="{020ADBCF-49CB-478E-9154-07F30DBBC2FC}"/>
              </a:ext>
            </a:extLst>
          </p:cNvPr>
          <p:cNvPicPr>
            <a:picLocks xmlns:a="http://schemas.openxmlformats.org/drawingml/2006/main" noChangeAspect="1"/>
          </p:cNvPicPr>
          <p:nvPr/>
        </p:nvPicPr>
        <p:blipFill>
          <a:blip xmlns:r="http://schemas.openxmlformats.org/officeDocument/2006/relationships" xmlns:a="http://schemas.openxmlformats.org/drawingml/2006/main" r:embed="Rb85095e47a3e402f"/>
          <a:srcRect xmlns:a="http://schemas.openxmlformats.org/drawingml/2006/main" l="0" t="0" r="0" b="54000"/>
          <a:stretch xmlns:a="http://schemas.openxmlformats.org/drawingml/2006/main"/>
        </p:blipFill>
        <p:spPr>
          <a:xfrm xmlns:a="http://schemas.openxmlformats.org/drawingml/2006/main">
            <a:off x="609600" y="1743075"/>
            <a:ext cx="7620000" cy="40671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D5CAEA0-1EFF-4A22-95CF-2020F4DF53DE}"/>
              </a:ext>
            </a:extLst>
          </p:cNvPr>
          <p:cNvSpPr>
            <a:spLocks xmlns:a="http://schemas.openxmlformats.org/drawingml/2006/main" noGrp="1"/>
          </p:cNvSpPr>
          <p:nvPr/>
        </p:nvSpPr>
        <p:spPr>
          <a:xfrm xmlns:a="http://schemas.openxmlformats.org/drawingml/2006/main">
            <a:off x="8591550" y="1800225"/>
            <a:ext cx="29241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4C50BE"/>
                </a:solidFill>
                <a:latin typeface="Arial"/>
                <a:ea typeface="Arial"/>
                <a:cs typeface="Arial"/>
              </a:defRPr>
            </a:defPPr>
          </a:lstStyle>
          <a:p xmlns:a="http://schemas.openxmlformats.org/drawingml/2006/main">
            <a:pPr>
              <a:defRPr sz="2625" b="1">
                <a:solidFill>
                  <a:srgbClr val="4C50BE"/>
                </a:solidFill>
                <a:latin typeface="Arial"/>
                <a:ea typeface="Arial"/>
                <a:cs typeface="Arial"/>
              </a:defRPr>
            </a:pPr>
            <a:r>
              <a:rPr sz="2625" b="1">
                <a:solidFill>
                  <a:srgbClr val="4C50BE"/>
                </a:solidFill>
                <a:latin typeface="Arial"/>
                <a:ea typeface="Arial"/>
                <a:cs typeface="Arial"/>
              </a:rPr>
              <a:t>16 workspaces</a:t>
            </a:r>
          </a:p>
        </p:txBody>
      </p:sp>
      <p:sp>
        <p:nvSpPr>
          <p:cNvPr id="7" name="">
            <a:extLst xmlns:a="http://schemas.openxmlformats.org/drawingml/2006/main">
              <a:ext uri="{FF2B5EF4-FFF2-40B4-BE49-F238E27FC236}">
                <a16:creationId xmlns:a16="http://schemas.microsoft.com/office/drawing/2014/main" id="{FE7AE922-E72A-4D8E-A797-6669ABE0B880}"/>
              </a:ext>
            </a:extLst>
          </p:cNvPr>
          <p:cNvSpPr>
            <a:spLocks xmlns:a="http://schemas.openxmlformats.org/drawingml/2006/main" noGrp="1"/>
          </p:cNvSpPr>
          <p:nvPr/>
        </p:nvSpPr>
        <p:spPr>
          <a:xfrm xmlns:a="http://schemas.openxmlformats.org/drawingml/2006/main">
            <a:off x="8591550" y="24765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2544"/>
                </a:solidFill>
                <a:latin typeface="Arial"/>
                <a:ea typeface="Arial"/>
                <a:cs typeface="Arial"/>
              </a:defRPr>
            </a:defPPr>
          </a:lstStyle>
          <a:p xmlns:a="http://schemas.openxmlformats.org/drawingml/2006/main">
            <a:pPr>
              <a:defRPr sz="1950" b="1">
                <a:solidFill>
                  <a:srgbClr val="172544"/>
                </a:solidFill>
                <a:latin typeface="Arial"/>
                <a:ea typeface="Arial"/>
                <a:cs typeface="Arial"/>
              </a:defRPr>
            </a:pPr>
            <a:r>
              <a:rPr sz="1950" b="1">
                <a:solidFill>
                  <a:srgbClr val="172544"/>
                </a:solidFill>
                <a:latin typeface="Arial"/>
                <a:ea typeface="Arial"/>
                <a:cs typeface="Arial"/>
              </a:rPr>
              <a:t>One persistent case</a:t>
            </a:r>
          </a:p>
        </p:txBody>
      </p:sp>
      <p:sp>
        <p:nvSpPr>
          <p:cNvPr id="8" name="">
            <a:extLst xmlns:a="http://schemas.openxmlformats.org/drawingml/2006/main">
              <a:ext uri="{FF2B5EF4-FFF2-40B4-BE49-F238E27FC236}">
                <a16:creationId xmlns:a16="http://schemas.microsoft.com/office/drawing/2014/main" id="{7B1E74AD-2A68-4CD8-8F4E-A53F57A2AE47}"/>
              </a:ext>
            </a:extLst>
          </p:cNvPr>
          <p:cNvSpPr>
            <a:spLocks xmlns:a="http://schemas.openxmlformats.org/drawingml/2006/main" noGrp="1"/>
          </p:cNvSpPr>
          <p:nvPr/>
        </p:nvSpPr>
        <p:spPr>
          <a:xfrm xmlns:a="http://schemas.openxmlformats.org/drawingml/2006/main">
            <a:off x="8591550" y="3028950"/>
            <a:ext cx="2952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73952"/>
                </a:solidFill>
                <a:latin typeface="Arial"/>
                <a:ea typeface="Arial"/>
                <a:cs typeface="Arial"/>
              </a:defRPr>
            </a:defPPr>
          </a:lstStyle>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Intake and documents</a:t>
            </a:r>
          </a:p>
          <a:p xmlns:a="http://schemas.openxmlformats.org/drawingml/2006/main">
            <a:r>
              <a:t/>
            </a:r>
          </a:p>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Assessment and SHAP</a:t>
            </a:r>
          </a:p>
          <a:p xmlns:a="http://schemas.openxmlformats.org/drawingml/2006/main">
            <a:r>
              <a:t/>
            </a:r>
          </a:p>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Human review</a:t>
            </a:r>
          </a:p>
          <a:p xmlns:a="http://schemas.openxmlformats.org/drawingml/2006/main">
            <a:r>
              <a:t/>
            </a:r>
          </a:p>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Credit memo and audit</a:t>
            </a:r>
          </a:p>
        </p:txBody>
      </p:sp>
      <p:sp>
        <p:nvSpPr>
          <p:cNvPr id="9" name="">
            <a:extLst xmlns:a="http://schemas.openxmlformats.org/drawingml/2006/main">
              <a:ext uri="{FF2B5EF4-FFF2-40B4-BE49-F238E27FC236}">
                <a16:creationId xmlns:a16="http://schemas.microsoft.com/office/drawing/2014/main" id="{24D0A907-DC86-4283-BAE9-B1E1C7A2D137}"/>
              </a:ext>
            </a:extLst>
          </p:cNvPr>
          <p:cNvSpPr>
            <a:spLocks xmlns:a="http://schemas.openxmlformats.org/drawingml/2006/main" noGrp="1"/>
          </p:cNvSpPr>
          <p:nvPr/>
        </p:nvSpPr>
        <p:spPr>
          <a:xfrm xmlns:a="http://schemas.openxmlformats.org/drawingml/2006/main">
            <a:off x="609600" y="59150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Local FastAPI application with a React interface and Python analytics</a:t>
            </a:r>
          </a:p>
        </p:txBody>
      </p:sp>
    </p:spTree>
    <p:extLst>
      <p:ext uri="{BB962C8B-B14F-4D97-AF65-F5344CB8AC3E}">
        <p14:creationId xmlns:p14="http://schemas.microsoft.com/office/powerpoint/2010/main" val="684161478"/>
      </p:ext>
    </p:extLst>
  </p:cSld>
</p:sld>
</file>

<file path=ppt/slides/slide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41F446E-E261-4AC2-8D8C-DEF1978C88D5}"/>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BUSINESS</a:t>
            </a:r>
          </a:p>
        </p:txBody>
      </p:sp>
      <p:sp>
        <p:nvSpPr>
          <p:cNvPr id="2" name="">
            <a:extLst xmlns:a="http://schemas.openxmlformats.org/drawingml/2006/main">
              <a:ext uri="{FF2B5EF4-FFF2-40B4-BE49-F238E27FC236}">
                <a16:creationId xmlns:a16="http://schemas.microsoft.com/office/drawing/2014/main" id="{5765CE0A-3DB9-467B-9A27-C3C6888567AD}"/>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Business opportunity</a:t>
            </a:r>
          </a:p>
        </p:txBody>
      </p:sp>
      <p:sp>
        <p:nvSpPr>
          <p:cNvPr id="3" name="">
            <a:extLst xmlns:a="http://schemas.openxmlformats.org/drawingml/2006/main">
              <a:ext uri="{FF2B5EF4-FFF2-40B4-BE49-F238E27FC236}">
                <a16:creationId xmlns:a16="http://schemas.microsoft.com/office/drawing/2014/main" id="{B94DDBBA-226C-4D77-BD12-2CBA9BA059F4}"/>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A016DCD2-7FD6-4865-A852-E23E35289314}"/>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306716AC-2B07-470C-87F4-ED301390EB99}"/>
              </a:ext>
            </a:extLst>
          </p:cNvPr>
          <p:cNvSpPr>
            <a:spLocks xmlns:a="http://schemas.openxmlformats.org/drawingml/2006/main" noGrp="1"/>
          </p:cNvSpPr>
          <p:nvPr/>
        </p:nvSpPr>
        <p:spPr>
          <a:xfrm xmlns:a="http://schemas.openxmlformats.org/drawingml/2006/main">
            <a:off x="609600" y="177165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2544"/>
                </a:solidFill>
                <a:latin typeface="Arial"/>
                <a:ea typeface="Arial"/>
                <a:cs typeface="Arial"/>
              </a:defRPr>
            </a:defPPr>
          </a:lstStyle>
          <a:p xmlns:a="http://schemas.openxmlformats.org/drawingml/2006/main">
            <a:pPr>
              <a:defRPr sz="2400" b="1">
                <a:solidFill>
                  <a:srgbClr val="172544"/>
                </a:solidFill>
                <a:latin typeface="Arial"/>
                <a:ea typeface="Arial"/>
                <a:cs typeface="Arial"/>
              </a:defRPr>
            </a:pPr>
            <a:r>
              <a:rPr sz="2400" b="1">
                <a:solidFill>
                  <a:srgbClr val="172544"/>
                </a:solidFill>
                <a:latin typeface="Arial"/>
                <a:ea typeface="Arial"/>
                <a:cs typeface="Arial"/>
              </a:rPr>
              <a:t>Manual credit review</a:t>
            </a:r>
          </a:p>
        </p:txBody>
      </p:sp>
      <p:sp>
        <p:nvSpPr>
          <p:cNvPr id="6" name="">
            <a:extLst xmlns:a="http://schemas.openxmlformats.org/drawingml/2006/main">
              <a:ext uri="{FF2B5EF4-FFF2-40B4-BE49-F238E27FC236}">
                <a16:creationId xmlns:a16="http://schemas.microsoft.com/office/drawing/2014/main" id="{FB2D5CFA-A043-4AA3-AEB5-6387C6BE6A80}"/>
              </a:ext>
            </a:extLst>
          </p:cNvPr>
          <p:cNvSpPr>
            <a:spLocks xmlns:a="http://schemas.openxmlformats.org/drawingml/2006/main" noGrp="1"/>
          </p:cNvSpPr>
          <p:nvPr/>
        </p:nvSpPr>
        <p:spPr>
          <a:xfrm xmlns:a="http://schemas.openxmlformats.org/drawingml/2006/main">
            <a:off x="6438900" y="177165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4C50BE"/>
                </a:solidFill>
                <a:latin typeface="Arial"/>
                <a:ea typeface="Arial"/>
                <a:cs typeface="Arial"/>
              </a:defRPr>
            </a:defPPr>
          </a:lstStyle>
          <a:p xmlns:a="http://schemas.openxmlformats.org/drawingml/2006/main">
            <a:pPr>
              <a:defRPr sz="2400" b="1">
                <a:solidFill>
                  <a:srgbClr val="4C50BE"/>
                </a:solidFill>
                <a:latin typeface="Arial"/>
                <a:ea typeface="Arial"/>
                <a:cs typeface="Arial"/>
              </a:defRPr>
            </a:pPr>
            <a:r>
              <a:rPr sz="2400" b="1">
                <a:solidFill>
                  <a:srgbClr val="4C50BE"/>
                </a:solidFill>
                <a:latin typeface="Arial"/>
                <a:ea typeface="Arial"/>
                <a:cs typeface="Arial"/>
              </a:rPr>
              <a:t>ORION opportunity</a:t>
            </a:r>
          </a:p>
        </p:txBody>
      </p:sp>
      <p:sp>
        <p:nvSpPr>
          <p:cNvPr id="7" name="">
            <a:extLst xmlns:a="http://schemas.openxmlformats.org/drawingml/2006/main">
              <a:ext uri="{FF2B5EF4-FFF2-40B4-BE49-F238E27FC236}">
                <a16:creationId xmlns:a16="http://schemas.microsoft.com/office/drawing/2014/main" id="{C4C0BB5A-AE08-4CA1-92B6-C29C64A5AB39}"/>
              </a:ext>
            </a:extLst>
          </p:cNvPr>
          <p:cNvSpPr>
            <a:spLocks xmlns:a="http://schemas.openxmlformats.org/drawingml/2006/main" noGrp="1"/>
          </p:cNvSpPr>
          <p:nvPr/>
        </p:nvSpPr>
        <p:spPr>
          <a:xfrm xmlns:a="http://schemas.openxmlformats.org/drawingml/2006/main">
            <a:off x="609600" y="2333625"/>
            <a:ext cx="10972800" cy="0"/>
          </a:xfrm>
          <a:prstGeom xmlns:a="http://schemas.openxmlformats.org/drawingml/2006/main" prst="line">
            <a:avLst/>
          </a:prstGeom>
          <a:ln xmlns:a="http://schemas.openxmlformats.org/drawingml/2006/main" w="19050">
            <a:solidFill>
              <a:srgbClr val="D7DEEA"/>
            </a:solidFill>
          </a:ln>
        </p:spPr>
      </p:sp>
      <p:sp>
        <p:nvSpPr>
          <p:cNvPr id="8" name="">
            <a:extLst xmlns:a="http://schemas.openxmlformats.org/drawingml/2006/main">
              <a:ext uri="{FF2B5EF4-FFF2-40B4-BE49-F238E27FC236}">
                <a16:creationId xmlns:a16="http://schemas.microsoft.com/office/drawing/2014/main" id="{5EED0193-1E57-43C0-A82D-45A03679DBA7}"/>
              </a:ext>
            </a:extLst>
          </p:cNvPr>
          <p:cNvSpPr>
            <a:spLocks xmlns:a="http://schemas.openxmlformats.org/drawingml/2006/main" noGrp="1"/>
          </p:cNvSpPr>
          <p:nvPr/>
        </p:nvSpPr>
        <p:spPr>
          <a:xfrm xmlns:a="http://schemas.openxmlformats.org/drawingml/2006/main">
            <a:off x="609600" y="2466975"/>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3952"/>
                </a:solidFill>
                <a:latin typeface="Arial"/>
                <a:ea typeface="Arial"/>
                <a:cs typeface="Arial"/>
              </a:defRPr>
            </a:defPPr>
          </a:lstStyle>
          <a:p xmlns:a="http://schemas.openxmlformats.org/drawingml/2006/main">
            <a:pPr>
              <a:defRPr sz="2025" b="1">
                <a:solidFill>
                  <a:srgbClr val="273952"/>
                </a:solidFill>
                <a:latin typeface="Arial"/>
                <a:ea typeface="Arial"/>
                <a:cs typeface="Arial"/>
              </a:defRPr>
            </a:pPr>
            <a:r>
              <a:rPr sz="2025" b="1">
                <a:solidFill>
                  <a:srgbClr val="273952"/>
                </a:solidFill>
                <a:latin typeface="Arial"/>
                <a:ea typeface="Arial"/>
                <a:cs typeface="Arial"/>
              </a:rPr>
              <a:t>Repeated reconciliation</a:t>
            </a:r>
          </a:p>
        </p:txBody>
      </p:sp>
      <p:sp>
        <p:nvSpPr>
          <p:cNvPr id="9" name="">
            <a:extLst xmlns:a="http://schemas.openxmlformats.org/drawingml/2006/main">
              <a:ext uri="{FF2B5EF4-FFF2-40B4-BE49-F238E27FC236}">
                <a16:creationId xmlns:a16="http://schemas.microsoft.com/office/drawing/2014/main" id="{04BF660A-8484-4030-873C-D4180FD969DB}"/>
              </a:ext>
            </a:extLst>
          </p:cNvPr>
          <p:cNvSpPr>
            <a:spLocks xmlns:a="http://schemas.openxmlformats.org/drawingml/2006/main" noGrp="1"/>
          </p:cNvSpPr>
          <p:nvPr/>
        </p:nvSpPr>
        <p:spPr>
          <a:xfrm xmlns:a="http://schemas.openxmlformats.org/drawingml/2006/main">
            <a:off x="6438900" y="2466975"/>
            <a:ext cx="5095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73952"/>
                </a:solidFill>
                <a:latin typeface="Arial"/>
                <a:ea typeface="Arial"/>
                <a:cs typeface="Arial"/>
              </a:defRPr>
            </a:defPPr>
          </a:lstStyle>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A case joins borrower inputs and reviewed documents</a:t>
            </a:r>
          </a:p>
        </p:txBody>
      </p:sp>
      <p:sp>
        <p:nvSpPr>
          <p:cNvPr id="10" name="">
            <a:extLst xmlns:a="http://schemas.openxmlformats.org/drawingml/2006/main">
              <a:ext uri="{FF2B5EF4-FFF2-40B4-BE49-F238E27FC236}">
                <a16:creationId xmlns:a16="http://schemas.microsoft.com/office/drawing/2014/main" id="{AAB9DFE7-344A-4598-A58C-843073D2C5E6}"/>
              </a:ext>
            </a:extLst>
          </p:cNvPr>
          <p:cNvSpPr>
            <a:spLocks xmlns:a="http://schemas.openxmlformats.org/drawingml/2006/main" noGrp="1"/>
          </p:cNvSpPr>
          <p:nvPr/>
        </p:nvSpPr>
        <p:spPr>
          <a:xfrm xmlns:a="http://schemas.openxmlformats.org/drawingml/2006/main">
            <a:off x="609600" y="3429000"/>
            <a:ext cx="10972800" cy="0"/>
          </a:xfrm>
          <a:prstGeom xmlns:a="http://schemas.openxmlformats.org/drawingml/2006/main" prst="line">
            <a:avLst/>
          </a:prstGeom>
          <a:ln xmlns:a="http://schemas.openxmlformats.org/drawingml/2006/main" w="19050">
            <a:solidFill>
              <a:srgbClr val="D7DEEA"/>
            </a:solidFill>
          </a:ln>
        </p:spPr>
      </p:sp>
      <p:sp>
        <p:nvSpPr>
          <p:cNvPr id="11" name="">
            <a:extLst xmlns:a="http://schemas.openxmlformats.org/drawingml/2006/main">
              <a:ext uri="{FF2B5EF4-FFF2-40B4-BE49-F238E27FC236}">
                <a16:creationId xmlns:a16="http://schemas.microsoft.com/office/drawing/2014/main" id="{E1E42A18-250F-43CF-98CC-03EAA73693BB}"/>
              </a:ext>
            </a:extLst>
          </p:cNvPr>
          <p:cNvSpPr>
            <a:spLocks xmlns:a="http://schemas.openxmlformats.org/drawingml/2006/main" noGrp="1"/>
          </p:cNvSpPr>
          <p:nvPr/>
        </p:nvSpPr>
        <p:spPr>
          <a:xfrm xmlns:a="http://schemas.openxmlformats.org/drawingml/2006/main">
            <a:off x="609600" y="3562350"/>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3952"/>
                </a:solidFill>
                <a:latin typeface="Arial"/>
                <a:ea typeface="Arial"/>
                <a:cs typeface="Arial"/>
              </a:defRPr>
            </a:defPPr>
          </a:lstStyle>
          <a:p xmlns:a="http://schemas.openxmlformats.org/drawingml/2006/main">
            <a:pPr>
              <a:defRPr sz="2025" b="1">
                <a:solidFill>
                  <a:srgbClr val="273952"/>
                </a:solidFill>
                <a:latin typeface="Arial"/>
                <a:ea typeface="Arial"/>
                <a:cs typeface="Arial"/>
              </a:defRPr>
            </a:pPr>
            <a:r>
              <a:rPr sz="2025" b="1">
                <a:solidFill>
                  <a:srgbClr val="273952"/>
                </a:solidFill>
                <a:latin typeface="Arial"/>
                <a:ea typeface="Arial"/>
                <a:cs typeface="Arial"/>
              </a:rPr>
              <a:t>Calculations across spreadsheets</a:t>
            </a:r>
          </a:p>
        </p:txBody>
      </p:sp>
      <p:sp>
        <p:nvSpPr>
          <p:cNvPr id="12" name="">
            <a:extLst xmlns:a="http://schemas.openxmlformats.org/drawingml/2006/main">
              <a:ext uri="{FF2B5EF4-FFF2-40B4-BE49-F238E27FC236}">
                <a16:creationId xmlns:a16="http://schemas.microsoft.com/office/drawing/2014/main" id="{B51E73DC-87AF-4357-9563-588FD09312AD}"/>
              </a:ext>
            </a:extLst>
          </p:cNvPr>
          <p:cNvSpPr>
            <a:spLocks xmlns:a="http://schemas.openxmlformats.org/drawingml/2006/main" noGrp="1"/>
          </p:cNvSpPr>
          <p:nvPr/>
        </p:nvSpPr>
        <p:spPr>
          <a:xfrm xmlns:a="http://schemas.openxmlformats.org/drawingml/2006/main">
            <a:off x="6438900" y="3562350"/>
            <a:ext cx="5095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73952"/>
                </a:solidFill>
                <a:latin typeface="Arial"/>
                <a:ea typeface="Arial"/>
                <a:cs typeface="Arial"/>
              </a:defRPr>
            </a:defPPr>
          </a:lstStyle>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Python applies the same capacity and loss formulas</a:t>
            </a:r>
          </a:p>
        </p:txBody>
      </p:sp>
      <p:sp>
        <p:nvSpPr>
          <p:cNvPr id="13" name="">
            <a:extLst xmlns:a="http://schemas.openxmlformats.org/drawingml/2006/main">
              <a:ext uri="{FF2B5EF4-FFF2-40B4-BE49-F238E27FC236}">
                <a16:creationId xmlns:a16="http://schemas.microsoft.com/office/drawing/2014/main" id="{45BE9C0B-3183-469C-82BC-58C774FDE2A4}"/>
              </a:ext>
            </a:extLst>
          </p:cNvPr>
          <p:cNvSpPr>
            <a:spLocks xmlns:a="http://schemas.openxmlformats.org/drawingml/2006/main" noGrp="1"/>
          </p:cNvSpPr>
          <p:nvPr/>
        </p:nvSpPr>
        <p:spPr>
          <a:xfrm xmlns:a="http://schemas.openxmlformats.org/drawingml/2006/main">
            <a:off x="609600" y="4524375"/>
            <a:ext cx="10972800" cy="0"/>
          </a:xfrm>
          <a:prstGeom xmlns:a="http://schemas.openxmlformats.org/drawingml/2006/main" prst="line">
            <a:avLst/>
          </a:prstGeom>
          <a:ln xmlns:a="http://schemas.openxmlformats.org/drawingml/2006/main" w="19050">
            <a:solidFill>
              <a:srgbClr val="D7DEEA"/>
            </a:solidFill>
          </a:ln>
        </p:spPr>
      </p:sp>
      <p:sp>
        <p:nvSpPr>
          <p:cNvPr id="14" name="">
            <a:extLst xmlns:a="http://schemas.openxmlformats.org/drawingml/2006/main">
              <a:ext uri="{FF2B5EF4-FFF2-40B4-BE49-F238E27FC236}">
                <a16:creationId xmlns:a16="http://schemas.microsoft.com/office/drawing/2014/main" id="{E6E27172-6B87-4C7B-8F1F-112500AA8BCB}"/>
              </a:ext>
            </a:extLst>
          </p:cNvPr>
          <p:cNvSpPr>
            <a:spLocks xmlns:a="http://schemas.openxmlformats.org/drawingml/2006/main" noGrp="1"/>
          </p:cNvSpPr>
          <p:nvPr/>
        </p:nvSpPr>
        <p:spPr>
          <a:xfrm xmlns:a="http://schemas.openxmlformats.org/drawingml/2006/main">
            <a:off x="609600" y="4657725"/>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3952"/>
                </a:solidFill>
                <a:latin typeface="Arial"/>
                <a:ea typeface="Arial"/>
                <a:cs typeface="Arial"/>
              </a:defRPr>
            </a:defPPr>
          </a:lstStyle>
          <a:p xmlns:a="http://schemas.openxmlformats.org/drawingml/2006/main">
            <a:pPr>
              <a:defRPr sz="2025" b="1">
                <a:solidFill>
                  <a:srgbClr val="273952"/>
                </a:solidFill>
                <a:latin typeface="Arial"/>
                <a:ea typeface="Arial"/>
                <a:cs typeface="Arial"/>
              </a:defRPr>
            </a:pPr>
            <a:r>
              <a:rPr sz="2025" b="1">
                <a:solidFill>
                  <a:srgbClr val="273952"/>
                </a:solidFill>
                <a:latin typeface="Arial"/>
                <a:ea typeface="Arial"/>
                <a:cs typeface="Arial"/>
              </a:rPr>
              <a:t>Decision rationale spread across files</a:t>
            </a:r>
          </a:p>
        </p:txBody>
      </p:sp>
      <p:sp>
        <p:nvSpPr>
          <p:cNvPr id="15" name="">
            <a:extLst xmlns:a="http://schemas.openxmlformats.org/drawingml/2006/main">
              <a:ext uri="{FF2B5EF4-FFF2-40B4-BE49-F238E27FC236}">
                <a16:creationId xmlns:a16="http://schemas.microsoft.com/office/drawing/2014/main" id="{B1D52AC8-21A7-4DC2-BBEF-6FB6D7DA201E}"/>
              </a:ext>
            </a:extLst>
          </p:cNvPr>
          <p:cNvSpPr>
            <a:spLocks xmlns:a="http://schemas.openxmlformats.org/drawingml/2006/main" noGrp="1"/>
          </p:cNvSpPr>
          <p:nvPr/>
        </p:nvSpPr>
        <p:spPr>
          <a:xfrm xmlns:a="http://schemas.openxmlformats.org/drawingml/2006/main">
            <a:off x="6438900" y="4657725"/>
            <a:ext cx="5095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73952"/>
                </a:solidFill>
                <a:latin typeface="Arial"/>
                <a:ea typeface="Arial"/>
                <a:cs typeface="Arial"/>
              </a:defRPr>
            </a:defPPr>
          </a:lstStyle>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Saved assessments, review reasons and audit history</a:t>
            </a:r>
          </a:p>
        </p:txBody>
      </p:sp>
      <p:sp>
        <p:nvSpPr>
          <p:cNvPr id="16" name="">
            <a:extLst xmlns:a="http://schemas.openxmlformats.org/drawingml/2006/main">
              <a:ext uri="{FF2B5EF4-FFF2-40B4-BE49-F238E27FC236}">
                <a16:creationId xmlns:a16="http://schemas.microsoft.com/office/drawing/2014/main" id="{20456A58-3824-49C2-AFF5-2B3FDFE4621A}"/>
              </a:ext>
            </a:extLst>
          </p:cNvPr>
          <p:cNvSpPr>
            <a:spLocks xmlns:a="http://schemas.openxmlformats.org/drawingml/2006/main" noGrp="1"/>
          </p:cNvSpPr>
          <p:nvPr/>
        </p:nvSpPr>
        <p:spPr>
          <a:xfrm xmlns:a="http://schemas.openxmlformats.org/drawingml/2006/main">
            <a:off x="609600" y="59626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37D80"/>
                </a:solidFill>
                <a:latin typeface="Arial"/>
                <a:ea typeface="Arial"/>
                <a:cs typeface="Arial"/>
              </a:defRPr>
            </a:defPPr>
          </a:lstStyle>
          <a:p xmlns:a="http://schemas.openxmlformats.org/drawingml/2006/main">
            <a:pPr>
              <a:defRPr sz="1725" b="1">
                <a:solidFill>
                  <a:srgbClr val="137D80"/>
                </a:solidFill>
                <a:latin typeface="Arial"/>
                <a:ea typeface="Arial"/>
                <a:cs typeface="Arial"/>
              </a:defRPr>
            </a:pPr>
            <a:r>
              <a:rPr sz="1725" b="1">
                <a:solidFill>
                  <a:srgbClr val="137D80"/>
                </a:solidFill>
                <a:latin typeface="Arial"/>
                <a:ea typeface="Arial"/>
                <a:cs typeface="Arial"/>
              </a:rPr>
              <a:t>Pilot measure: analyst minutes per completed case and corrections per case</a:t>
            </a:r>
          </a:p>
        </p:txBody>
      </p:sp>
    </p:spTree>
    <p:extLst>
      <p:ext uri="{BB962C8B-B14F-4D97-AF65-F5344CB8AC3E}">
        <p14:creationId xmlns:p14="http://schemas.microsoft.com/office/powerpoint/2010/main" val="2090532002"/>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04E0392-9052-4F9F-8DC0-68EA39579D27}"/>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BUSINESS</a:t>
            </a:r>
          </a:p>
        </p:txBody>
      </p:sp>
      <p:sp>
        <p:nvSpPr>
          <p:cNvPr id="2" name="">
            <a:extLst xmlns:a="http://schemas.openxmlformats.org/drawingml/2006/main">
              <a:ext uri="{FF2B5EF4-FFF2-40B4-BE49-F238E27FC236}">
                <a16:creationId xmlns:a16="http://schemas.microsoft.com/office/drawing/2014/main" id="{42F083D0-330E-4452-A575-271D77417518}"/>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Target audience</a:t>
            </a:r>
          </a:p>
        </p:txBody>
      </p:sp>
      <p:sp>
        <p:nvSpPr>
          <p:cNvPr id="3" name="">
            <a:extLst xmlns:a="http://schemas.openxmlformats.org/drawingml/2006/main">
              <a:ext uri="{FF2B5EF4-FFF2-40B4-BE49-F238E27FC236}">
                <a16:creationId xmlns:a16="http://schemas.microsoft.com/office/drawing/2014/main" id="{508A8FDF-D08A-4FEE-9C08-779E9E508910}"/>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ECE6F94F-2DF5-446D-B602-C641554F4EAD}"/>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21A9C7C5-2CF6-42C6-8A4F-218909E8BCAB}"/>
              </a:ext>
            </a:extLst>
          </p:cNvPr>
          <p:cNvSpPr>
            <a:spLocks xmlns:a="http://schemas.openxmlformats.org/drawingml/2006/main" noGrp="1"/>
          </p:cNvSpPr>
          <p:nvPr/>
        </p:nvSpPr>
        <p:spPr>
          <a:xfrm xmlns:a="http://schemas.openxmlformats.org/drawingml/2006/main">
            <a:off x="609600" y="17811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4C50BE"/>
                </a:solidFill>
                <a:latin typeface="Arial"/>
                <a:ea typeface="Arial"/>
                <a:cs typeface="Arial"/>
              </a:defRPr>
            </a:defPPr>
          </a:lstStyle>
          <a:p xmlns:a="http://schemas.openxmlformats.org/drawingml/2006/main">
            <a:pPr>
              <a:defRPr sz="4050" b="1">
                <a:solidFill>
                  <a:srgbClr val="4C50BE"/>
                </a:solidFill>
                <a:latin typeface="Arial"/>
                <a:ea typeface="Arial"/>
                <a:cs typeface="Arial"/>
              </a:defRPr>
            </a:pPr>
            <a:r>
              <a:rPr sz="4050" b="1">
                <a:solidFill>
                  <a:srgbClr val="4C50BE"/>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06EDB1FC-B758-4718-B3FE-69E42096D659}"/>
              </a:ext>
            </a:extLst>
          </p:cNvPr>
          <p:cNvSpPr>
            <a:spLocks xmlns:a="http://schemas.openxmlformats.org/drawingml/2006/main" noGrp="1"/>
          </p:cNvSpPr>
          <p:nvPr/>
        </p:nvSpPr>
        <p:spPr>
          <a:xfrm xmlns:a="http://schemas.openxmlformats.org/drawingml/2006/main">
            <a:off x="609600" y="2714625"/>
            <a:ext cx="3381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2544"/>
                </a:solidFill>
                <a:latin typeface="Arial"/>
                <a:ea typeface="Arial"/>
                <a:cs typeface="Arial"/>
              </a:defRPr>
            </a:defPPr>
          </a:lstStyle>
          <a:p xmlns:a="http://schemas.openxmlformats.org/drawingml/2006/main">
            <a:pPr>
              <a:defRPr sz="2400" b="1">
                <a:solidFill>
                  <a:srgbClr val="172544"/>
                </a:solidFill>
                <a:latin typeface="Arial"/>
                <a:ea typeface="Arial"/>
                <a:cs typeface="Arial"/>
              </a:defRPr>
            </a:pPr>
            <a:r>
              <a:rPr sz="2400" b="1">
                <a:solidFill>
                  <a:srgbClr val="172544"/>
                </a:solidFill>
                <a:latin typeface="Arial"/>
                <a:ea typeface="Arial"/>
                <a:cs typeface="Arial"/>
              </a:rPr>
              <a:t>Credit analyst</a:t>
            </a:r>
          </a:p>
        </p:txBody>
      </p:sp>
      <p:sp>
        <p:nvSpPr>
          <p:cNvPr id="7" name="">
            <a:extLst xmlns:a="http://schemas.openxmlformats.org/drawingml/2006/main">
              <a:ext uri="{FF2B5EF4-FFF2-40B4-BE49-F238E27FC236}">
                <a16:creationId xmlns:a16="http://schemas.microsoft.com/office/drawing/2014/main" id="{54E8E8EC-D3B6-49DC-99F1-68892D801983}"/>
              </a:ext>
            </a:extLst>
          </p:cNvPr>
          <p:cNvSpPr>
            <a:spLocks xmlns:a="http://schemas.openxmlformats.org/drawingml/2006/main" noGrp="1"/>
          </p:cNvSpPr>
          <p:nvPr/>
        </p:nvSpPr>
        <p:spPr>
          <a:xfrm xmlns:a="http://schemas.openxmlformats.org/drawingml/2006/main">
            <a:off x="609600" y="3676650"/>
            <a:ext cx="3381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37D80"/>
                </a:solidFill>
                <a:latin typeface="Arial"/>
                <a:ea typeface="Arial"/>
                <a:cs typeface="Arial"/>
              </a:defRPr>
            </a:defPPr>
          </a:lstStyle>
          <a:p xmlns:a="http://schemas.openxmlformats.org/drawingml/2006/main">
            <a:pPr>
              <a:defRPr sz="1950" b="1">
                <a:solidFill>
                  <a:srgbClr val="137D80"/>
                </a:solidFill>
                <a:latin typeface="Arial"/>
                <a:ea typeface="Arial"/>
                <a:cs typeface="Arial"/>
              </a:defRPr>
            </a:pPr>
            <a:r>
              <a:rPr sz="1950" b="1">
                <a:solidFill>
                  <a:srgbClr val="137D80"/>
                </a:solidFill>
                <a:latin typeface="Arial"/>
                <a:ea typeface="Arial"/>
                <a:cs typeface="Arial"/>
              </a:rPr>
              <a:t>Prepare a reviewable case</a:t>
            </a:r>
          </a:p>
        </p:txBody>
      </p:sp>
      <p:sp>
        <p:nvSpPr>
          <p:cNvPr id="8" name="">
            <a:extLst xmlns:a="http://schemas.openxmlformats.org/drawingml/2006/main">
              <a:ext uri="{FF2B5EF4-FFF2-40B4-BE49-F238E27FC236}">
                <a16:creationId xmlns:a16="http://schemas.microsoft.com/office/drawing/2014/main" id="{EA4CBC4F-5684-40B7-89D9-B73F6AF0AC4E}"/>
              </a:ext>
            </a:extLst>
          </p:cNvPr>
          <p:cNvSpPr>
            <a:spLocks xmlns:a="http://schemas.openxmlformats.org/drawingml/2006/main" noGrp="1"/>
          </p:cNvSpPr>
          <p:nvPr/>
        </p:nvSpPr>
        <p:spPr>
          <a:xfrm xmlns:a="http://schemas.openxmlformats.org/drawingml/2006/main">
            <a:off x="609600" y="4562475"/>
            <a:ext cx="3381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73952"/>
                </a:solidFill>
                <a:latin typeface="Arial"/>
                <a:ea typeface="Arial"/>
                <a:cs typeface="Arial"/>
              </a:defRPr>
            </a:defPPr>
          </a:lstStyle>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Review documents and inputs</a:t>
            </a:r>
          </a:p>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Assess repayment capacity</a:t>
            </a:r>
          </a:p>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Explain the model output</a:t>
            </a:r>
          </a:p>
        </p:txBody>
      </p:sp>
      <p:sp>
        <p:nvSpPr>
          <p:cNvPr id="9" name="">
            <a:extLst xmlns:a="http://schemas.openxmlformats.org/drawingml/2006/main">
              <a:ext uri="{FF2B5EF4-FFF2-40B4-BE49-F238E27FC236}">
                <a16:creationId xmlns:a16="http://schemas.microsoft.com/office/drawing/2014/main" id="{A32CB4C4-23BA-43CC-896B-F9B2856D7C7B}"/>
              </a:ext>
            </a:extLst>
          </p:cNvPr>
          <p:cNvSpPr>
            <a:spLocks xmlns:a="http://schemas.openxmlformats.org/drawingml/2006/main" noGrp="1"/>
          </p:cNvSpPr>
          <p:nvPr/>
        </p:nvSpPr>
        <p:spPr>
          <a:xfrm xmlns:a="http://schemas.openxmlformats.org/drawingml/2006/main">
            <a:off x="4400550" y="17811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4C50BE"/>
                </a:solidFill>
                <a:latin typeface="Arial"/>
                <a:ea typeface="Arial"/>
                <a:cs typeface="Arial"/>
              </a:defRPr>
            </a:defPPr>
          </a:lstStyle>
          <a:p xmlns:a="http://schemas.openxmlformats.org/drawingml/2006/main">
            <a:pPr>
              <a:defRPr sz="4050" b="1">
                <a:solidFill>
                  <a:srgbClr val="4C50BE"/>
                </a:solidFill>
                <a:latin typeface="Arial"/>
                <a:ea typeface="Arial"/>
                <a:cs typeface="Arial"/>
              </a:defRPr>
            </a:pPr>
            <a:r>
              <a:rPr sz="4050" b="1">
                <a:solidFill>
                  <a:srgbClr val="4C50BE"/>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CDA33869-3011-406D-8012-CD39A0539D22}"/>
              </a:ext>
            </a:extLst>
          </p:cNvPr>
          <p:cNvSpPr>
            <a:spLocks xmlns:a="http://schemas.openxmlformats.org/drawingml/2006/main" noGrp="1"/>
          </p:cNvSpPr>
          <p:nvPr/>
        </p:nvSpPr>
        <p:spPr>
          <a:xfrm xmlns:a="http://schemas.openxmlformats.org/drawingml/2006/main">
            <a:off x="4400550" y="2714625"/>
            <a:ext cx="3381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2544"/>
                </a:solidFill>
                <a:latin typeface="Arial"/>
                <a:ea typeface="Arial"/>
                <a:cs typeface="Arial"/>
              </a:defRPr>
            </a:defPPr>
          </a:lstStyle>
          <a:p xmlns:a="http://schemas.openxmlformats.org/drawingml/2006/main">
            <a:pPr>
              <a:defRPr sz="2400" b="1">
                <a:solidFill>
                  <a:srgbClr val="172544"/>
                </a:solidFill>
                <a:latin typeface="Arial"/>
                <a:ea typeface="Arial"/>
                <a:cs typeface="Arial"/>
              </a:defRPr>
            </a:pPr>
            <a:r>
              <a:rPr sz="2400" b="1">
                <a:solidFill>
                  <a:srgbClr val="172544"/>
                </a:solidFill>
                <a:latin typeface="Arial"/>
                <a:ea typeface="Arial"/>
                <a:cs typeface="Arial"/>
              </a:rPr>
              <a:t>Credit committee</a:t>
            </a:r>
          </a:p>
        </p:txBody>
      </p:sp>
      <p:sp>
        <p:nvSpPr>
          <p:cNvPr id="11" name="">
            <a:extLst xmlns:a="http://schemas.openxmlformats.org/drawingml/2006/main">
              <a:ext uri="{FF2B5EF4-FFF2-40B4-BE49-F238E27FC236}">
                <a16:creationId xmlns:a16="http://schemas.microsoft.com/office/drawing/2014/main" id="{3DB440F0-4E94-4FFC-B4BB-542FB7324755}"/>
              </a:ext>
            </a:extLst>
          </p:cNvPr>
          <p:cNvSpPr>
            <a:spLocks xmlns:a="http://schemas.openxmlformats.org/drawingml/2006/main" noGrp="1"/>
          </p:cNvSpPr>
          <p:nvPr/>
        </p:nvSpPr>
        <p:spPr>
          <a:xfrm xmlns:a="http://schemas.openxmlformats.org/drawingml/2006/main">
            <a:off x="4400550" y="3676650"/>
            <a:ext cx="3381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37D80"/>
                </a:solidFill>
                <a:latin typeface="Arial"/>
                <a:ea typeface="Arial"/>
                <a:cs typeface="Arial"/>
              </a:defRPr>
            </a:defPPr>
          </a:lstStyle>
          <a:p xmlns:a="http://schemas.openxmlformats.org/drawingml/2006/main">
            <a:pPr>
              <a:defRPr sz="1950" b="1">
                <a:solidFill>
                  <a:srgbClr val="137D80"/>
                </a:solidFill>
                <a:latin typeface="Arial"/>
                <a:ea typeface="Arial"/>
                <a:cs typeface="Arial"/>
              </a:defRPr>
            </a:pPr>
            <a:r>
              <a:rPr sz="1950" b="1">
                <a:solidFill>
                  <a:srgbClr val="137D80"/>
                </a:solidFill>
                <a:latin typeface="Arial"/>
                <a:ea typeface="Arial"/>
                <a:cs typeface="Arial"/>
              </a:rPr>
              <a:t>Record a defensible decision</a:t>
            </a:r>
          </a:p>
        </p:txBody>
      </p:sp>
      <p:sp>
        <p:nvSpPr>
          <p:cNvPr id="12" name="">
            <a:extLst xmlns:a="http://schemas.openxmlformats.org/drawingml/2006/main">
              <a:ext uri="{FF2B5EF4-FFF2-40B4-BE49-F238E27FC236}">
                <a16:creationId xmlns:a16="http://schemas.microsoft.com/office/drawing/2014/main" id="{0EC84EFF-AC56-4015-9A67-EF813462DF7F}"/>
              </a:ext>
            </a:extLst>
          </p:cNvPr>
          <p:cNvSpPr>
            <a:spLocks xmlns:a="http://schemas.openxmlformats.org/drawingml/2006/main" noGrp="1"/>
          </p:cNvSpPr>
          <p:nvPr/>
        </p:nvSpPr>
        <p:spPr>
          <a:xfrm xmlns:a="http://schemas.openxmlformats.org/drawingml/2006/main">
            <a:off x="4400550" y="4562475"/>
            <a:ext cx="3381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73952"/>
                </a:solidFill>
                <a:latin typeface="Arial"/>
                <a:ea typeface="Arial"/>
                <a:cs typeface="Arial"/>
              </a:defRPr>
            </a:defPPr>
          </a:lstStyle>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Inspect the original assessment</a:t>
            </a:r>
          </a:p>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Approve or override with reasons</a:t>
            </a:r>
          </a:p>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Export the credit memorandum</a:t>
            </a:r>
          </a:p>
        </p:txBody>
      </p:sp>
      <p:sp>
        <p:nvSpPr>
          <p:cNvPr id="13" name="">
            <a:extLst xmlns:a="http://schemas.openxmlformats.org/drawingml/2006/main">
              <a:ext uri="{FF2B5EF4-FFF2-40B4-BE49-F238E27FC236}">
                <a16:creationId xmlns:a16="http://schemas.microsoft.com/office/drawing/2014/main" id="{C1D6215E-B7DC-4763-B6DD-3D447FB3265A}"/>
              </a:ext>
            </a:extLst>
          </p:cNvPr>
          <p:cNvSpPr>
            <a:spLocks xmlns:a="http://schemas.openxmlformats.org/drawingml/2006/main" noGrp="1"/>
          </p:cNvSpPr>
          <p:nvPr/>
        </p:nvSpPr>
        <p:spPr>
          <a:xfrm xmlns:a="http://schemas.openxmlformats.org/drawingml/2006/main">
            <a:off x="8191500" y="17811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4C50BE"/>
                </a:solidFill>
                <a:latin typeface="Arial"/>
                <a:ea typeface="Arial"/>
                <a:cs typeface="Arial"/>
              </a:defRPr>
            </a:defPPr>
          </a:lstStyle>
          <a:p xmlns:a="http://schemas.openxmlformats.org/drawingml/2006/main">
            <a:pPr>
              <a:defRPr sz="4050" b="1">
                <a:solidFill>
                  <a:srgbClr val="4C50BE"/>
                </a:solidFill>
                <a:latin typeface="Arial"/>
                <a:ea typeface="Arial"/>
                <a:cs typeface="Arial"/>
              </a:defRPr>
            </a:pPr>
            <a:r>
              <a:rPr sz="4050" b="1">
                <a:solidFill>
                  <a:srgbClr val="4C50BE"/>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265AA4C1-C575-47F4-BB4D-490A07114DE2}"/>
              </a:ext>
            </a:extLst>
          </p:cNvPr>
          <p:cNvSpPr>
            <a:spLocks xmlns:a="http://schemas.openxmlformats.org/drawingml/2006/main" noGrp="1"/>
          </p:cNvSpPr>
          <p:nvPr/>
        </p:nvSpPr>
        <p:spPr>
          <a:xfrm xmlns:a="http://schemas.openxmlformats.org/drawingml/2006/main">
            <a:off x="8191500" y="2714625"/>
            <a:ext cx="3381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2544"/>
                </a:solidFill>
                <a:latin typeface="Arial"/>
                <a:ea typeface="Arial"/>
                <a:cs typeface="Arial"/>
              </a:defRPr>
            </a:defPPr>
          </a:lstStyle>
          <a:p xmlns:a="http://schemas.openxmlformats.org/drawingml/2006/main">
            <a:pPr>
              <a:defRPr sz="2400" b="1">
                <a:solidFill>
                  <a:srgbClr val="172544"/>
                </a:solidFill>
                <a:latin typeface="Arial"/>
                <a:ea typeface="Arial"/>
                <a:cs typeface="Arial"/>
              </a:defRPr>
            </a:pPr>
            <a:r>
              <a:rPr sz="2400" b="1">
                <a:solidFill>
                  <a:srgbClr val="172544"/>
                </a:solidFill>
                <a:latin typeface="Arial"/>
                <a:ea typeface="Arial"/>
                <a:cs typeface="Arial"/>
              </a:rPr>
              <a:t>Risk leadership</a:t>
            </a:r>
          </a:p>
        </p:txBody>
      </p:sp>
      <p:sp>
        <p:nvSpPr>
          <p:cNvPr id="15" name="">
            <a:extLst xmlns:a="http://schemas.openxmlformats.org/drawingml/2006/main">
              <a:ext uri="{FF2B5EF4-FFF2-40B4-BE49-F238E27FC236}">
                <a16:creationId xmlns:a16="http://schemas.microsoft.com/office/drawing/2014/main" id="{7EAC0D97-AD66-48DA-87F2-6E79CF9DA6E2}"/>
              </a:ext>
            </a:extLst>
          </p:cNvPr>
          <p:cNvSpPr>
            <a:spLocks xmlns:a="http://schemas.openxmlformats.org/drawingml/2006/main" noGrp="1"/>
          </p:cNvSpPr>
          <p:nvPr/>
        </p:nvSpPr>
        <p:spPr>
          <a:xfrm xmlns:a="http://schemas.openxmlformats.org/drawingml/2006/main">
            <a:off x="8191500" y="3676650"/>
            <a:ext cx="3381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37D80"/>
                </a:solidFill>
                <a:latin typeface="Arial"/>
                <a:ea typeface="Arial"/>
                <a:cs typeface="Arial"/>
              </a:defRPr>
            </a:defPPr>
          </a:lstStyle>
          <a:p xmlns:a="http://schemas.openxmlformats.org/drawingml/2006/main">
            <a:pPr>
              <a:defRPr sz="1950" b="1">
                <a:solidFill>
                  <a:srgbClr val="137D80"/>
                </a:solidFill>
                <a:latin typeface="Arial"/>
                <a:ea typeface="Arial"/>
                <a:cs typeface="Arial"/>
              </a:defRPr>
            </a:pPr>
            <a:r>
              <a:rPr sz="1950" b="1">
                <a:solidFill>
                  <a:srgbClr val="137D80"/>
                </a:solidFill>
                <a:latin typeface="Arial"/>
                <a:ea typeface="Arial"/>
                <a:cs typeface="Arial"/>
              </a:rPr>
              <a:t>Review portfolio exposure</a:t>
            </a:r>
          </a:p>
        </p:txBody>
      </p:sp>
      <p:sp>
        <p:nvSpPr>
          <p:cNvPr id="16" name="">
            <a:extLst xmlns:a="http://schemas.openxmlformats.org/drawingml/2006/main">
              <a:ext uri="{FF2B5EF4-FFF2-40B4-BE49-F238E27FC236}">
                <a16:creationId xmlns:a16="http://schemas.microsoft.com/office/drawing/2014/main" id="{7E9C7BCD-E235-4635-AD19-F6012C564DF4}"/>
              </a:ext>
            </a:extLst>
          </p:cNvPr>
          <p:cNvSpPr>
            <a:spLocks xmlns:a="http://schemas.openxmlformats.org/drawingml/2006/main" noGrp="1"/>
          </p:cNvSpPr>
          <p:nvPr/>
        </p:nvSpPr>
        <p:spPr>
          <a:xfrm xmlns:a="http://schemas.openxmlformats.org/drawingml/2006/main">
            <a:off x="8191500" y="4562475"/>
            <a:ext cx="3381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73952"/>
                </a:solidFill>
                <a:latin typeface="Arial"/>
                <a:ea typeface="Arial"/>
                <a:cs typeface="Arial"/>
              </a:defRPr>
            </a:defPPr>
          </a:lstStyle>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Compare stress scenarios</a:t>
            </a:r>
          </a:p>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Inspect expected loss</a:t>
            </a:r>
          </a:p>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Track decisions and overrides</a:t>
            </a:r>
          </a:p>
        </p:txBody>
      </p:sp>
    </p:spTree>
    <p:extLst>
      <p:ext uri="{BB962C8B-B14F-4D97-AF65-F5344CB8AC3E}">
        <p14:creationId xmlns:p14="http://schemas.microsoft.com/office/powerpoint/2010/main" val="1116102445"/>
      </p:ext>
    </p:extLst>
  </p:cSld>
</p:sld>
</file>

<file path=ppt/slides/slide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567B55F-2E4E-4A85-9EAF-2AC0EB547B93}"/>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BUSINESS</a:t>
            </a:r>
          </a:p>
        </p:txBody>
      </p:sp>
      <p:sp>
        <p:nvSpPr>
          <p:cNvPr id="2" name="">
            <a:extLst xmlns:a="http://schemas.openxmlformats.org/drawingml/2006/main">
              <a:ext uri="{FF2B5EF4-FFF2-40B4-BE49-F238E27FC236}">
                <a16:creationId xmlns:a16="http://schemas.microsoft.com/office/drawing/2014/main" id="{42025B79-C4F7-4203-9D3D-3BAFB3D87D28}"/>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Financial ROI</a:t>
            </a:r>
          </a:p>
        </p:txBody>
      </p:sp>
      <p:sp>
        <p:nvSpPr>
          <p:cNvPr id="3" name="">
            <a:extLst xmlns:a="http://schemas.openxmlformats.org/drawingml/2006/main">
              <a:ext uri="{FF2B5EF4-FFF2-40B4-BE49-F238E27FC236}">
                <a16:creationId xmlns:a16="http://schemas.microsoft.com/office/drawing/2014/main" id="{D652F767-4B99-46F9-A33E-6FE317D7B13D}"/>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05708ED5-10B3-44F3-8432-C25E70CCEA46}"/>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F4B26A3-CF28-4882-82A3-7892C21EF777}"/>
              </a:ext>
            </a:extLst>
          </p:cNvPr>
          <p:cNvSpPr>
            <a:spLocks xmlns:a="http://schemas.openxmlformats.org/drawingml/2006/main" noGrp="1"/>
          </p:cNvSpPr>
          <p:nvPr/>
        </p:nvSpPr>
        <p:spPr>
          <a:xfrm xmlns:a="http://schemas.openxmlformats.org/drawingml/2006/main">
            <a:off x="609600" y="1733550"/>
            <a:ext cx="333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925" b="1">
                <a:solidFill>
                  <a:srgbClr val="137D80"/>
                </a:solidFill>
                <a:latin typeface="Arial"/>
                <a:ea typeface="Arial"/>
                <a:cs typeface="Arial"/>
              </a:defRPr>
            </a:defPPr>
          </a:lstStyle>
          <a:p xmlns:a="http://schemas.openxmlformats.org/drawingml/2006/main">
            <a:pPr>
              <a:defRPr sz="5925" b="1">
                <a:solidFill>
                  <a:srgbClr val="137D80"/>
                </a:solidFill>
                <a:latin typeface="Arial"/>
                <a:ea typeface="Arial"/>
                <a:cs typeface="Arial"/>
              </a:defRPr>
            </a:pPr>
            <a:r>
              <a:rPr sz="5925" b="1">
                <a:solidFill>
                  <a:srgbClr val="137D80"/>
                </a:solidFill>
                <a:latin typeface="Arial"/>
                <a:ea typeface="Arial"/>
                <a:cs typeface="Arial"/>
              </a:rPr>
              <a:t>200%</a:t>
            </a:r>
          </a:p>
        </p:txBody>
      </p:sp>
      <p:sp>
        <p:nvSpPr>
          <p:cNvPr id="6" name="">
            <a:extLst xmlns:a="http://schemas.openxmlformats.org/drawingml/2006/main">
              <a:ext uri="{FF2B5EF4-FFF2-40B4-BE49-F238E27FC236}">
                <a16:creationId xmlns:a16="http://schemas.microsoft.com/office/drawing/2014/main" id="{E2AB24D0-E02A-4F84-91E2-47609749F078}"/>
              </a:ext>
            </a:extLst>
          </p:cNvPr>
          <p:cNvSpPr>
            <a:spLocks xmlns:a="http://schemas.openxmlformats.org/drawingml/2006/main" noGrp="1"/>
          </p:cNvSpPr>
          <p:nvPr/>
        </p:nvSpPr>
        <p:spPr>
          <a:xfrm xmlns:a="http://schemas.openxmlformats.org/drawingml/2006/main">
            <a:off x="609600" y="2828925"/>
            <a:ext cx="3381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2544"/>
                </a:solidFill>
                <a:latin typeface="Arial"/>
                <a:ea typeface="Arial"/>
                <a:cs typeface="Arial"/>
              </a:defRPr>
            </a:defPPr>
          </a:lstStyle>
          <a:p xmlns:a="http://schemas.openxmlformats.org/drawingml/2006/main">
            <a:pPr>
              <a:defRPr sz="2100" b="1">
                <a:solidFill>
                  <a:srgbClr val="172544"/>
                </a:solidFill>
                <a:latin typeface="Arial"/>
                <a:ea typeface="Arial"/>
                <a:cs typeface="Arial"/>
              </a:defRPr>
            </a:pPr>
            <a:r>
              <a:rPr sz="2100" b="1">
                <a:solidFill>
                  <a:srgbClr val="172544"/>
                </a:solidFill>
                <a:latin typeface="Arial"/>
                <a:ea typeface="Arial"/>
                <a:cs typeface="Arial"/>
              </a:rPr>
              <a:t>Illustrative year-one ROI</a:t>
            </a:r>
          </a:p>
        </p:txBody>
      </p:sp>
      <p:sp>
        <p:nvSpPr>
          <p:cNvPr id="7" name="">
            <a:extLst xmlns:a="http://schemas.openxmlformats.org/drawingml/2006/main">
              <a:ext uri="{FF2B5EF4-FFF2-40B4-BE49-F238E27FC236}">
                <a16:creationId xmlns:a16="http://schemas.microsoft.com/office/drawing/2014/main" id="{C8236E11-B8B7-4BC3-9350-F6054E67D274}"/>
              </a:ext>
            </a:extLst>
          </p:cNvPr>
          <p:cNvSpPr>
            <a:spLocks xmlns:a="http://schemas.openxmlformats.org/drawingml/2006/main" noGrp="1"/>
          </p:cNvSpPr>
          <p:nvPr/>
        </p:nvSpPr>
        <p:spPr>
          <a:xfrm xmlns:a="http://schemas.openxmlformats.org/drawingml/2006/main">
            <a:off x="609600" y="382905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73952"/>
                </a:solidFill>
                <a:latin typeface="Arial"/>
                <a:ea typeface="Arial"/>
                <a:cs typeface="Arial"/>
              </a:defRPr>
            </a:defPPr>
          </a:lstStyle>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1,000 cases / month</a:t>
            </a:r>
          </a:p>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30 minutes saved / case</a:t>
            </a:r>
          </a:p>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INR 600 / analyst hour</a:t>
            </a:r>
          </a:p>
        </p:txBody>
      </p:sp>
      <p:sp>
        <p:nvSpPr>
          <p:cNvPr id="8" name="">
            <a:extLst xmlns:a="http://schemas.openxmlformats.org/drawingml/2006/main">
              <a:ext uri="{FF2B5EF4-FFF2-40B4-BE49-F238E27FC236}">
                <a16:creationId xmlns:a16="http://schemas.microsoft.com/office/drawing/2014/main" id="{DEF9423C-FE64-4EFB-8C2C-8E67E71F95C0}"/>
              </a:ext>
            </a:extLst>
          </p:cNvPr>
          <p:cNvSpPr>
            <a:spLocks xmlns:a="http://schemas.openxmlformats.org/drawingml/2006/main" noGrp="1"/>
          </p:cNvSpPr>
          <p:nvPr/>
        </p:nvSpPr>
        <p:spPr>
          <a:xfrm xmlns:a="http://schemas.openxmlformats.org/drawingml/2006/main">
            <a:off x="609600" y="5324475"/>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Capacity value, not realized cash savings</a:t>
            </a:r>
          </a:p>
        </p:txBody>
      </p:sp>
      <p:graphicFrame>
        <p:nvGraphicFramePr>
          <p:cNvPr id="9" name="Chart">
            <a:extLst xmlns:a="http://schemas.openxmlformats.org/drawingml/2006/main">
              <a:ext uri="{FF2B5EF4-FFF2-40B4-BE49-F238E27FC236}">
                <a16:creationId xmlns:a16="http://schemas.microsoft.com/office/drawing/2014/main" id="{EE76F16E-4839-44C6-99E0-937EB78EBD3F}"/>
              </a:ext>
            </a:extLst>
          </p:cNvPr>
          <p:cNvGraphicFramePr/>
          <p:nvPr/>
        </p:nvGraphicFramePr>
        <p:xfrm>
          <a:off xmlns:a="http://schemas.openxmlformats.org/drawingml/2006/main" x="4305300" y="1714500"/>
          <a:ext xmlns:a="http://schemas.openxmlformats.org/drawingml/2006/main" cx="7277100" cy="3333750"/>
        </p:xfrm>
        <a:graphic xmlns:a="http://schemas.openxmlformats.org/drawingml/2006/main">
          <a:graphicData uri="http://schemas.openxmlformats.org/drawingml/2006/chart">
            <c:chart xmlns:r="http://schemas.openxmlformats.org/officeDocument/2006/relationships" xmlns:c="http://schemas.openxmlformats.org/drawingml/2006/chart" r:id="R7f762be27c054f8c"/>
          </a:graphicData>
        </a:graphic>
      </p:graphicFrame>
      <p:sp>
        <p:nvSpPr>
          <p:cNvPr id="10" name="">
            <a:extLst xmlns:a="http://schemas.openxmlformats.org/drawingml/2006/main">
              <a:ext uri="{FF2B5EF4-FFF2-40B4-BE49-F238E27FC236}">
                <a16:creationId xmlns:a16="http://schemas.microsoft.com/office/drawing/2014/main" id="{9C81E132-1511-4482-A894-07AE0DE42CF1}"/>
              </a:ext>
            </a:extLst>
          </p:cNvPr>
          <p:cNvSpPr>
            <a:spLocks xmlns:a="http://schemas.openxmlformats.org/drawingml/2006/main" noGrp="1"/>
          </p:cNvSpPr>
          <p:nvPr/>
        </p:nvSpPr>
        <p:spPr>
          <a:xfrm xmlns:a="http://schemas.openxmlformats.org/drawingml/2006/main">
            <a:off x="4476750" y="5181600"/>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27187"/>
                </a:solidFill>
                <a:latin typeface="Arial"/>
                <a:ea typeface="Arial"/>
                <a:cs typeface="Arial"/>
              </a:defRPr>
            </a:defPPr>
          </a:lstStyle>
          <a:p xmlns:a="http://schemas.openxmlformats.org/drawingml/2006/main">
            <a:pPr>
              <a:defRPr sz="1650" b="0">
                <a:solidFill>
                  <a:srgbClr val="627187"/>
                </a:solidFill>
                <a:latin typeface="Arial"/>
                <a:ea typeface="Arial"/>
                <a:cs typeface="Arial"/>
              </a:defRPr>
            </a:pPr>
            <a:r>
              <a:rPr sz="1650" b="0">
                <a:solidFill>
                  <a:srgbClr val="627187"/>
                </a:solidFill>
                <a:latin typeface="Arial"/>
                <a:ea typeface="Arial"/>
                <a:cs typeface="Arial"/>
              </a:rPr>
              <a:t>Sensitivity by minutes saved per case · INR lakh</a:t>
            </a:r>
          </a:p>
        </p:txBody>
      </p:sp>
      <p:sp>
        <p:nvSpPr>
          <p:cNvPr id="11" name="">
            <a:extLst xmlns:a="http://schemas.openxmlformats.org/drawingml/2006/main">
              <a:ext uri="{FF2B5EF4-FFF2-40B4-BE49-F238E27FC236}">
                <a16:creationId xmlns:a16="http://schemas.microsoft.com/office/drawing/2014/main" id="{F4FCA47E-70AC-4D76-891C-1C33382318EF}"/>
              </a:ext>
            </a:extLst>
          </p:cNvPr>
          <p:cNvSpPr>
            <a:spLocks xmlns:a="http://schemas.openxmlformats.org/drawingml/2006/main" noGrp="1"/>
          </p:cNvSpPr>
          <p:nvPr/>
        </p:nvSpPr>
        <p:spPr>
          <a:xfrm xmlns:a="http://schemas.openxmlformats.org/drawingml/2006/main">
            <a:off x="4305300" y="5619750"/>
            <a:ext cx="723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2544"/>
                </a:solidFill>
                <a:latin typeface="Arial"/>
                <a:ea typeface="Arial"/>
                <a:cs typeface="Arial"/>
              </a:defRPr>
            </a:defPPr>
          </a:lstStyle>
          <a:p xmlns:a="http://schemas.openxmlformats.org/drawingml/2006/main">
            <a:pPr>
              <a:defRPr sz="1875" b="1">
                <a:solidFill>
                  <a:srgbClr val="172544"/>
                </a:solidFill>
                <a:latin typeface="Arial"/>
                <a:ea typeface="Arial"/>
                <a:cs typeface="Arial"/>
              </a:defRPr>
            </a:pPr>
            <a:r>
              <a:rPr sz="1875" b="1">
                <a:solidFill>
                  <a:srgbClr val="172544"/>
                </a:solidFill>
                <a:latin typeface="Arial"/>
                <a:ea typeface="Arial"/>
                <a:cs typeface="Arial"/>
              </a:rPr>
              <a:t>Base case: INR 36 lakh value − INR 12 lakh cost = INR 24 lakh net</a:t>
            </a:r>
          </a:p>
        </p:txBody>
      </p:sp>
    </p:spTree>
    <p:extLst>
      <p:ext uri="{BB962C8B-B14F-4D97-AF65-F5344CB8AC3E}">
        <p14:creationId xmlns:p14="http://schemas.microsoft.com/office/powerpoint/2010/main" val="597840955"/>
      </p:ext>
    </p:extLst>
  </p:cSld>
</p:sld>
</file>

<file path=ppt/slides/slide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C5ACB0B-0B61-47A1-934D-3C2B9F97ABCF}"/>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TECHNICAL</a:t>
            </a:r>
          </a:p>
        </p:txBody>
      </p:sp>
      <p:sp>
        <p:nvSpPr>
          <p:cNvPr id="2" name="">
            <a:extLst xmlns:a="http://schemas.openxmlformats.org/drawingml/2006/main">
              <a:ext uri="{FF2B5EF4-FFF2-40B4-BE49-F238E27FC236}">
                <a16:creationId xmlns:a16="http://schemas.microsoft.com/office/drawing/2014/main" id="{15A590A0-2988-46E7-A8FD-7A9736506A76}"/>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System architecture diagram</a:t>
            </a:r>
          </a:p>
        </p:txBody>
      </p:sp>
      <p:sp>
        <p:nvSpPr>
          <p:cNvPr id="3" name="">
            <a:extLst xmlns:a="http://schemas.openxmlformats.org/drawingml/2006/main">
              <a:ext uri="{FF2B5EF4-FFF2-40B4-BE49-F238E27FC236}">
                <a16:creationId xmlns:a16="http://schemas.microsoft.com/office/drawing/2014/main" id="{95F11176-9F42-4CF1-9207-9456F1F02930}"/>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C30A2756-929E-4DDE-996B-EAEE122E24CC}"/>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918A4570-E2DB-4623-9850-9564BCB4338C}"/>
              </a:ext>
            </a:extLst>
          </p:cNvPr>
          <p:cNvSpPr>
            <a:spLocks xmlns:a="http://schemas.openxmlformats.org/drawingml/2006/main" noGrp="1"/>
          </p:cNvSpPr>
          <p:nvPr/>
        </p:nvSpPr>
        <p:spPr>
          <a:xfrm xmlns:a="http://schemas.openxmlformats.org/drawingml/2006/main">
            <a:off x="609600" y="1809750"/>
            <a:ext cx="31432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A"/>
            </a:solidFill>
          </a:ln>
        </p:spPr>
      </p:sp>
      <p:sp>
        <p:nvSpPr>
          <p:cNvPr id="6" name="">
            <a:extLst xmlns:a="http://schemas.openxmlformats.org/drawingml/2006/main">
              <a:ext uri="{FF2B5EF4-FFF2-40B4-BE49-F238E27FC236}">
                <a16:creationId xmlns:a16="http://schemas.microsoft.com/office/drawing/2014/main" id="{0961080B-A164-4297-A00A-1B85AF1CC949}"/>
              </a:ext>
            </a:extLst>
          </p:cNvPr>
          <p:cNvSpPr>
            <a:spLocks xmlns:a="http://schemas.openxmlformats.org/drawingml/2006/main" noGrp="1"/>
          </p:cNvSpPr>
          <p:nvPr/>
        </p:nvSpPr>
        <p:spPr>
          <a:xfrm xmlns:a="http://schemas.openxmlformats.org/drawingml/2006/main">
            <a:off x="790575" y="19812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2544"/>
                </a:solidFill>
                <a:latin typeface="Arial"/>
                <a:ea typeface="Arial"/>
                <a:cs typeface="Arial"/>
              </a:defRPr>
            </a:defPPr>
          </a:lstStyle>
          <a:p xmlns:a="http://schemas.openxmlformats.org/drawingml/2006/main">
            <a:pPr>
              <a:defRPr sz="2100" b="1">
                <a:solidFill>
                  <a:srgbClr val="172544"/>
                </a:solidFill>
                <a:latin typeface="Arial"/>
                <a:ea typeface="Arial"/>
                <a:cs typeface="Arial"/>
              </a:defRPr>
            </a:pPr>
            <a:r>
              <a:rPr sz="2100" b="1">
                <a:solidFill>
                  <a:srgbClr val="172544"/>
                </a:solidFill>
                <a:latin typeface="Arial"/>
                <a:ea typeface="Arial"/>
                <a:cs typeface="Arial"/>
              </a:rPr>
              <a:t>React + TypeScript</a:t>
            </a:r>
          </a:p>
        </p:txBody>
      </p:sp>
      <p:sp>
        <p:nvSpPr>
          <p:cNvPr id="7" name="">
            <a:extLst xmlns:a="http://schemas.openxmlformats.org/drawingml/2006/main">
              <a:ext uri="{FF2B5EF4-FFF2-40B4-BE49-F238E27FC236}">
                <a16:creationId xmlns:a16="http://schemas.microsoft.com/office/drawing/2014/main" id="{612208BD-3397-455F-BC1A-894AA3F5EA32}"/>
              </a:ext>
            </a:extLst>
          </p:cNvPr>
          <p:cNvSpPr>
            <a:spLocks xmlns:a="http://schemas.openxmlformats.org/drawingml/2006/main" noGrp="1"/>
          </p:cNvSpPr>
          <p:nvPr/>
        </p:nvSpPr>
        <p:spPr>
          <a:xfrm xmlns:a="http://schemas.openxmlformats.org/drawingml/2006/main">
            <a:off x="790575" y="2428875"/>
            <a:ext cx="2781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Intake, underwriting, portfolio and review</a:t>
            </a:r>
          </a:p>
        </p:txBody>
      </p:sp>
      <p:sp>
        <p:nvSpPr>
          <p:cNvPr id="8" name="">
            <a:extLst xmlns:a="http://schemas.openxmlformats.org/drawingml/2006/main">
              <a:ext uri="{FF2B5EF4-FFF2-40B4-BE49-F238E27FC236}">
                <a16:creationId xmlns:a16="http://schemas.microsoft.com/office/drawing/2014/main" id="{D77D7344-E193-40ED-B8E7-4EDB3263505A}"/>
              </a:ext>
            </a:extLst>
          </p:cNvPr>
          <p:cNvSpPr>
            <a:spLocks xmlns:a="http://schemas.openxmlformats.org/drawingml/2006/main" noGrp="1"/>
          </p:cNvSpPr>
          <p:nvPr/>
        </p:nvSpPr>
        <p:spPr>
          <a:xfrm xmlns:a="http://schemas.openxmlformats.org/drawingml/2006/main">
            <a:off x="4524375" y="1809750"/>
            <a:ext cx="3143250" cy="1428750"/>
          </a:xfrm>
          <a:prstGeom xmlns:a="http://schemas.openxmlformats.org/drawingml/2006/main" prst="rect">
            <a:avLst/>
          </a:prstGeom>
          <a:solidFill xmlns:a="http://schemas.openxmlformats.org/drawingml/2006/main">
            <a:srgbClr val="E7E9FC"/>
          </a:solidFill>
          <a:ln xmlns:a="http://schemas.openxmlformats.org/drawingml/2006/main" w="9525">
            <a:solidFill>
              <a:srgbClr val="D7DEEA"/>
            </a:solidFill>
          </a:ln>
        </p:spPr>
      </p:sp>
      <p:sp>
        <p:nvSpPr>
          <p:cNvPr id="9" name="">
            <a:extLst xmlns:a="http://schemas.openxmlformats.org/drawingml/2006/main">
              <a:ext uri="{FF2B5EF4-FFF2-40B4-BE49-F238E27FC236}">
                <a16:creationId xmlns:a16="http://schemas.microsoft.com/office/drawing/2014/main" id="{9AEB2398-962B-49C4-939B-B0D2D89D1278}"/>
              </a:ext>
            </a:extLst>
          </p:cNvPr>
          <p:cNvSpPr>
            <a:spLocks xmlns:a="http://schemas.openxmlformats.org/drawingml/2006/main" noGrp="1"/>
          </p:cNvSpPr>
          <p:nvPr/>
        </p:nvSpPr>
        <p:spPr>
          <a:xfrm xmlns:a="http://schemas.openxmlformats.org/drawingml/2006/main">
            <a:off x="4705350" y="19812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2544"/>
                </a:solidFill>
                <a:latin typeface="Arial"/>
                <a:ea typeface="Arial"/>
                <a:cs typeface="Arial"/>
              </a:defRPr>
            </a:defPPr>
          </a:lstStyle>
          <a:p xmlns:a="http://schemas.openxmlformats.org/drawingml/2006/main">
            <a:pPr>
              <a:defRPr sz="2100" b="1">
                <a:solidFill>
                  <a:srgbClr val="172544"/>
                </a:solidFill>
                <a:latin typeface="Arial"/>
                <a:ea typeface="Arial"/>
                <a:cs typeface="Arial"/>
              </a:defRPr>
            </a:pPr>
            <a:r>
              <a:rPr sz="2100" b="1">
                <a:solidFill>
                  <a:srgbClr val="172544"/>
                </a:solidFill>
                <a:latin typeface="Arial"/>
                <a:ea typeface="Arial"/>
                <a:cs typeface="Arial"/>
              </a:rPr>
              <a:t>FastAPI</a:t>
            </a:r>
          </a:p>
        </p:txBody>
      </p:sp>
      <p:sp>
        <p:nvSpPr>
          <p:cNvPr id="10" name="">
            <a:extLst xmlns:a="http://schemas.openxmlformats.org/drawingml/2006/main">
              <a:ext uri="{FF2B5EF4-FFF2-40B4-BE49-F238E27FC236}">
                <a16:creationId xmlns:a16="http://schemas.microsoft.com/office/drawing/2014/main" id="{D3D17E25-D466-45B8-B348-2E8B0F0E9C99}"/>
              </a:ext>
            </a:extLst>
          </p:cNvPr>
          <p:cNvSpPr>
            <a:spLocks xmlns:a="http://schemas.openxmlformats.org/drawingml/2006/main" noGrp="1"/>
          </p:cNvSpPr>
          <p:nvPr/>
        </p:nvSpPr>
        <p:spPr>
          <a:xfrm xmlns:a="http://schemas.openxmlformats.org/drawingml/2006/main">
            <a:off x="4705350" y="2428875"/>
            <a:ext cx="2781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Sessions, roles and input validation</a:t>
            </a:r>
          </a:p>
        </p:txBody>
      </p:sp>
      <p:sp>
        <p:nvSpPr>
          <p:cNvPr id="11" name="">
            <a:extLst xmlns:a="http://schemas.openxmlformats.org/drawingml/2006/main">
              <a:ext uri="{FF2B5EF4-FFF2-40B4-BE49-F238E27FC236}">
                <a16:creationId xmlns:a16="http://schemas.microsoft.com/office/drawing/2014/main" id="{B0968BD5-7A63-44B1-B915-9BDA88F2A5C2}"/>
              </a:ext>
            </a:extLst>
          </p:cNvPr>
          <p:cNvSpPr>
            <a:spLocks xmlns:a="http://schemas.openxmlformats.org/drawingml/2006/main" noGrp="1"/>
          </p:cNvSpPr>
          <p:nvPr/>
        </p:nvSpPr>
        <p:spPr>
          <a:xfrm xmlns:a="http://schemas.openxmlformats.org/drawingml/2006/main">
            <a:off x="8439150" y="1809750"/>
            <a:ext cx="31432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A"/>
            </a:solidFill>
          </a:ln>
        </p:spPr>
      </p:sp>
      <p:sp>
        <p:nvSpPr>
          <p:cNvPr id="12" name="">
            <a:extLst xmlns:a="http://schemas.openxmlformats.org/drawingml/2006/main">
              <a:ext uri="{FF2B5EF4-FFF2-40B4-BE49-F238E27FC236}">
                <a16:creationId xmlns:a16="http://schemas.microsoft.com/office/drawing/2014/main" id="{D54CC68F-F8D7-408B-9911-95818376A2CA}"/>
              </a:ext>
            </a:extLst>
          </p:cNvPr>
          <p:cNvSpPr>
            <a:spLocks xmlns:a="http://schemas.openxmlformats.org/drawingml/2006/main" noGrp="1"/>
          </p:cNvSpPr>
          <p:nvPr/>
        </p:nvSpPr>
        <p:spPr>
          <a:xfrm xmlns:a="http://schemas.openxmlformats.org/drawingml/2006/main">
            <a:off x="8620125" y="19812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2544"/>
                </a:solidFill>
                <a:latin typeface="Arial"/>
                <a:ea typeface="Arial"/>
                <a:cs typeface="Arial"/>
              </a:defRPr>
            </a:defPPr>
          </a:lstStyle>
          <a:p xmlns:a="http://schemas.openxmlformats.org/drawingml/2006/main">
            <a:pPr>
              <a:defRPr sz="2100" b="1">
                <a:solidFill>
                  <a:srgbClr val="172544"/>
                </a:solidFill>
                <a:latin typeface="Arial"/>
                <a:ea typeface="Arial"/>
                <a:cs typeface="Arial"/>
              </a:defRPr>
            </a:pPr>
            <a:r>
              <a:rPr sz="2100" b="1">
                <a:solidFill>
                  <a:srgbClr val="172544"/>
                </a:solidFill>
                <a:latin typeface="Arial"/>
                <a:ea typeface="Arial"/>
                <a:cs typeface="Arial"/>
              </a:rPr>
              <a:t>Case database</a:t>
            </a:r>
          </a:p>
        </p:txBody>
      </p:sp>
      <p:sp>
        <p:nvSpPr>
          <p:cNvPr id="13" name="">
            <a:extLst xmlns:a="http://schemas.openxmlformats.org/drawingml/2006/main">
              <a:ext uri="{FF2B5EF4-FFF2-40B4-BE49-F238E27FC236}">
                <a16:creationId xmlns:a16="http://schemas.microsoft.com/office/drawing/2014/main" id="{A478544C-CCBA-4623-9C8A-BA7C61D5C1B2}"/>
              </a:ext>
            </a:extLst>
          </p:cNvPr>
          <p:cNvSpPr>
            <a:spLocks xmlns:a="http://schemas.openxmlformats.org/drawingml/2006/main" noGrp="1"/>
          </p:cNvSpPr>
          <p:nvPr/>
        </p:nvSpPr>
        <p:spPr>
          <a:xfrm xmlns:a="http://schemas.openxmlformats.org/drawingml/2006/main">
            <a:off x="8620125" y="2428875"/>
            <a:ext cx="2781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SQLite / SQLAlchemy</a:t>
            </a:r>
          </a:p>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Case history and audit</a:t>
            </a:r>
          </a:p>
        </p:txBody>
      </p:sp>
      <p:sp>
        <p:nvSpPr>
          <p:cNvPr id="14" name="">
            <a:extLst xmlns:a="http://schemas.openxmlformats.org/drawingml/2006/main">
              <a:ext uri="{FF2B5EF4-FFF2-40B4-BE49-F238E27FC236}">
                <a16:creationId xmlns:a16="http://schemas.microsoft.com/office/drawing/2014/main" id="{92D0F4E1-D5F4-4E99-9216-A2140DA8426A}"/>
              </a:ext>
            </a:extLst>
          </p:cNvPr>
          <p:cNvSpPr>
            <a:spLocks xmlns:a="http://schemas.openxmlformats.org/drawingml/2006/main" noGrp="1"/>
          </p:cNvSpPr>
          <p:nvPr/>
        </p:nvSpPr>
        <p:spPr>
          <a:xfrm xmlns:a="http://schemas.openxmlformats.org/drawingml/2006/main">
            <a:off x="3752850" y="2524125"/>
            <a:ext cx="771525" cy="0"/>
          </a:xfrm>
          <a:prstGeom xmlns:a="http://schemas.openxmlformats.org/drawingml/2006/main" prst="line">
            <a:avLst/>
          </a:prstGeom>
          <a:ln xmlns:a="http://schemas.openxmlformats.org/drawingml/2006/main" w="19050">
            <a:solidFill>
              <a:srgbClr val="4C50BE"/>
            </a:solidFill>
          </a:ln>
        </p:spPr>
      </p:sp>
      <p:sp>
        <p:nvSpPr>
          <p:cNvPr id="15" name="">
            <a:extLst xmlns:a="http://schemas.openxmlformats.org/drawingml/2006/main">
              <a:ext uri="{FF2B5EF4-FFF2-40B4-BE49-F238E27FC236}">
                <a16:creationId xmlns:a16="http://schemas.microsoft.com/office/drawing/2014/main" id="{35DBA820-013A-414B-B04E-C23DD01C5980}"/>
              </a:ext>
            </a:extLst>
          </p:cNvPr>
          <p:cNvSpPr>
            <a:spLocks xmlns:a="http://schemas.openxmlformats.org/drawingml/2006/main" noGrp="1"/>
          </p:cNvSpPr>
          <p:nvPr/>
        </p:nvSpPr>
        <p:spPr>
          <a:xfrm xmlns:a="http://schemas.openxmlformats.org/drawingml/2006/main">
            <a:off x="7667625" y="2524125"/>
            <a:ext cx="771525" cy="0"/>
          </a:xfrm>
          <a:prstGeom xmlns:a="http://schemas.openxmlformats.org/drawingml/2006/main" prst="line">
            <a:avLst/>
          </a:prstGeom>
          <a:ln xmlns:a="http://schemas.openxmlformats.org/drawingml/2006/main" w="19050">
            <a:solidFill>
              <a:srgbClr val="4C50BE"/>
            </a:solidFill>
          </a:ln>
        </p:spPr>
      </p:sp>
      <p:sp>
        <p:nvSpPr>
          <p:cNvPr id="16" name="">
            <a:extLst xmlns:a="http://schemas.openxmlformats.org/drawingml/2006/main">
              <a:ext uri="{FF2B5EF4-FFF2-40B4-BE49-F238E27FC236}">
                <a16:creationId xmlns:a16="http://schemas.microsoft.com/office/drawing/2014/main" id="{0D6D5B73-AC1F-4DBB-A5CF-F836282A8B01}"/>
              </a:ext>
            </a:extLst>
          </p:cNvPr>
          <p:cNvSpPr>
            <a:spLocks xmlns:a="http://schemas.openxmlformats.org/drawingml/2006/main" noGrp="1"/>
          </p:cNvSpPr>
          <p:nvPr/>
        </p:nvSpPr>
        <p:spPr>
          <a:xfrm xmlns:a="http://schemas.openxmlformats.org/drawingml/2006/main">
            <a:off x="6096000" y="3238500"/>
            <a:ext cx="0" cy="542925"/>
          </a:xfrm>
          <a:prstGeom xmlns:a="http://schemas.openxmlformats.org/drawingml/2006/main" prst="line">
            <a:avLst/>
          </a:prstGeom>
          <a:ln xmlns:a="http://schemas.openxmlformats.org/drawingml/2006/main" w="19050">
            <a:solidFill>
              <a:srgbClr val="4C50BE"/>
            </a:solidFill>
          </a:ln>
        </p:spPr>
      </p:sp>
      <p:sp>
        <p:nvSpPr>
          <p:cNvPr id="17" name="">
            <a:extLst xmlns:a="http://schemas.openxmlformats.org/drawingml/2006/main">
              <a:ext uri="{FF2B5EF4-FFF2-40B4-BE49-F238E27FC236}">
                <a16:creationId xmlns:a16="http://schemas.microsoft.com/office/drawing/2014/main" id="{E7E06B40-0928-4A55-94AD-5C6175F2D02B}"/>
              </a:ext>
            </a:extLst>
          </p:cNvPr>
          <p:cNvSpPr>
            <a:spLocks xmlns:a="http://schemas.openxmlformats.org/drawingml/2006/main" noGrp="1"/>
          </p:cNvSpPr>
          <p:nvPr/>
        </p:nvSpPr>
        <p:spPr>
          <a:xfrm xmlns:a="http://schemas.openxmlformats.org/drawingml/2006/main">
            <a:off x="2228850" y="3781425"/>
            <a:ext cx="7734300" cy="0"/>
          </a:xfrm>
          <a:prstGeom xmlns:a="http://schemas.openxmlformats.org/drawingml/2006/main" prst="line">
            <a:avLst/>
          </a:prstGeom>
          <a:ln xmlns:a="http://schemas.openxmlformats.org/drawingml/2006/main" w="19050">
            <a:solidFill>
              <a:srgbClr val="4C50BE"/>
            </a:solidFill>
          </a:ln>
        </p:spPr>
      </p:sp>
      <p:sp>
        <p:nvSpPr>
          <p:cNvPr id="18" name="">
            <a:extLst xmlns:a="http://schemas.openxmlformats.org/drawingml/2006/main">
              <a:ext uri="{FF2B5EF4-FFF2-40B4-BE49-F238E27FC236}">
                <a16:creationId xmlns:a16="http://schemas.microsoft.com/office/drawing/2014/main" id="{FA3CFDA7-AFD4-47B7-A58C-7A1B51A32B2B}"/>
              </a:ext>
            </a:extLst>
          </p:cNvPr>
          <p:cNvSpPr>
            <a:spLocks xmlns:a="http://schemas.openxmlformats.org/drawingml/2006/main" noGrp="1"/>
          </p:cNvSpPr>
          <p:nvPr/>
        </p:nvSpPr>
        <p:spPr>
          <a:xfrm xmlns:a="http://schemas.openxmlformats.org/drawingml/2006/main">
            <a:off x="2228850" y="3781425"/>
            <a:ext cx="0" cy="361950"/>
          </a:xfrm>
          <a:prstGeom xmlns:a="http://schemas.openxmlformats.org/drawingml/2006/main" prst="line">
            <a:avLst/>
          </a:prstGeom>
          <a:ln xmlns:a="http://schemas.openxmlformats.org/drawingml/2006/main" w="19050">
            <a:solidFill>
              <a:srgbClr val="4C50BE"/>
            </a:solidFill>
          </a:ln>
        </p:spPr>
      </p:sp>
      <p:sp>
        <p:nvSpPr>
          <p:cNvPr id="19" name="">
            <a:extLst xmlns:a="http://schemas.openxmlformats.org/drawingml/2006/main">
              <a:ext uri="{FF2B5EF4-FFF2-40B4-BE49-F238E27FC236}">
                <a16:creationId xmlns:a16="http://schemas.microsoft.com/office/drawing/2014/main" id="{3B398E8E-FAD5-451A-9325-D023E212373E}"/>
              </a:ext>
            </a:extLst>
          </p:cNvPr>
          <p:cNvSpPr>
            <a:spLocks xmlns:a="http://schemas.openxmlformats.org/drawingml/2006/main" noGrp="1"/>
          </p:cNvSpPr>
          <p:nvPr/>
        </p:nvSpPr>
        <p:spPr>
          <a:xfrm xmlns:a="http://schemas.openxmlformats.org/drawingml/2006/main">
            <a:off x="6096000" y="3781425"/>
            <a:ext cx="0" cy="361950"/>
          </a:xfrm>
          <a:prstGeom xmlns:a="http://schemas.openxmlformats.org/drawingml/2006/main" prst="line">
            <a:avLst/>
          </a:prstGeom>
          <a:ln xmlns:a="http://schemas.openxmlformats.org/drawingml/2006/main" w="19050">
            <a:solidFill>
              <a:srgbClr val="4C50BE"/>
            </a:solidFill>
          </a:ln>
        </p:spPr>
      </p:sp>
      <p:sp>
        <p:nvSpPr>
          <p:cNvPr id="20" name="">
            <a:extLst xmlns:a="http://schemas.openxmlformats.org/drawingml/2006/main">
              <a:ext uri="{FF2B5EF4-FFF2-40B4-BE49-F238E27FC236}">
                <a16:creationId xmlns:a16="http://schemas.microsoft.com/office/drawing/2014/main" id="{475F2F0D-F161-4346-BAE5-46918FED9F44}"/>
              </a:ext>
            </a:extLst>
          </p:cNvPr>
          <p:cNvSpPr>
            <a:spLocks xmlns:a="http://schemas.openxmlformats.org/drawingml/2006/main" noGrp="1"/>
          </p:cNvSpPr>
          <p:nvPr/>
        </p:nvSpPr>
        <p:spPr>
          <a:xfrm xmlns:a="http://schemas.openxmlformats.org/drawingml/2006/main">
            <a:off x="9963150" y="3781425"/>
            <a:ext cx="0" cy="361950"/>
          </a:xfrm>
          <a:prstGeom xmlns:a="http://schemas.openxmlformats.org/drawingml/2006/main" prst="line">
            <a:avLst/>
          </a:prstGeom>
          <a:ln xmlns:a="http://schemas.openxmlformats.org/drawingml/2006/main" w="19050">
            <a:solidFill>
              <a:srgbClr val="4C50BE"/>
            </a:solidFill>
          </a:ln>
        </p:spPr>
      </p:sp>
      <p:sp>
        <p:nvSpPr>
          <p:cNvPr id="21" name="">
            <a:extLst xmlns:a="http://schemas.openxmlformats.org/drawingml/2006/main">
              <a:ext uri="{FF2B5EF4-FFF2-40B4-BE49-F238E27FC236}">
                <a16:creationId xmlns:a16="http://schemas.microsoft.com/office/drawing/2014/main" id="{F67B34E9-B3B2-4103-AC98-E733709DD0FE}"/>
              </a:ext>
            </a:extLst>
          </p:cNvPr>
          <p:cNvSpPr>
            <a:spLocks xmlns:a="http://schemas.openxmlformats.org/drawingml/2006/main" noGrp="1"/>
          </p:cNvSpPr>
          <p:nvPr/>
        </p:nvSpPr>
        <p:spPr>
          <a:xfrm xmlns:a="http://schemas.openxmlformats.org/drawingml/2006/main">
            <a:off x="609600" y="4143375"/>
            <a:ext cx="31432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DEEA"/>
            </a:solidFill>
          </a:ln>
        </p:spPr>
      </p:sp>
      <p:sp>
        <p:nvSpPr>
          <p:cNvPr id="22" name="">
            <a:extLst xmlns:a="http://schemas.openxmlformats.org/drawingml/2006/main">
              <a:ext uri="{FF2B5EF4-FFF2-40B4-BE49-F238E27FC236}">
                <a16:creationId xmlns:a16="http://schemas.microsoft.com/office/drawing/2014/main" id="{F4115FF5-1752-41BC-8CD3-85A199E8D0C3}"/>
              </a:ext>
            </a:extLst>
          </p:cNvPr>
          <p:cNvSpPr>
            <a:spLocks xmlns:a="http://schemas.openxmlformats.org/drawingml/2006/main" noGrp="1"/>
          </p:cNvSpPr>
          <p:nvPr/>
        </p:nvSpPr>
        <p:spPr>
          <a:xfrm xmlns:a="http://schemas.openxmlformats.org/drawingml/2006/main">
            <a:off x="790575" y="431482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2544"/>
                </a:solidFill>
                <a:latin typeface="Arial"/>
                <a:ea typeface="Arial"/>
                <a:cs typeface="Arial"/>
              </a:defRPr>
            </a:defPPr>
          </a:lstStyle>
          <a:p xmlns:a="http://schemas.openxmlformats.org/drawingml/2006/main">
            <a:pPr>
              <a:defRPr sz="2100" b="1">
                <a:solidFill>
                  <a:srgbClr val="172544"/>
                </a:solidFill>
                <a:latin typeface="Arial"/>
                <a:ea typeface="Arial"/>
                <a:cs typeface="Arial"/>
              </a:defRPr>
            </a:pPr>
            <a:r>
              <a:rPr sz="2100" b="1">
                <a:solidFill>
                  <a:srgbClr val="172544"/>
                </a:solidFill>
                <a:latin typeface="Arial"/>
                <a:ea typeface="Arial"/>
                <a:cs typeface="Arial"/>
              </a:rPr>
              <a:t>Financial engine</a:t>
            </a:r>
          </a:p>
        </p:txBody>
      </p:sp>
      <p:sp>
        <p:nvSpPr>
          <p:cNvPr id="23" name="">
            <a:extLst xmlns:a="http://schemas.openxmlformats.org/drawingml/2006/main">
              <a:ext uri="{FF2B5EF4-FFF2-40B4-BE49-F238E27FC236}">
                <a16:creationId xmlns:a16="http://schemas.microsoft.com/office/drawing/2014/main" id="{D6D0A77D-CD4C-445A-929F-33ACBFD041CC}"/>
              </a:ext>
            </a:extLst>
          </p:cNvPr>
          <p:cNvSpPr>
            <a:spLocks xmlns:a="http://schemas.openxmlformats.org/drawingml/2006/main" noGrp="1"/>
          </p:cNvSpPr>
          <p:nvPr/>
        </p:nvSpPr>
        <p:spPr>
          <a:xfrm xmlns:a="http://schemas.openxmlformats.org/drawingml/2006/main">
            <a:off x="790575" y="4762500"/>
            <a:ext cx="27813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EMI, DTI / DSCR, loss and scenarios</a:t>
            </a:r>
          </a:p>
        </p:txBody>
      </p:sp>
      <p:sp>
        <p:nvSpPr>
          <p:cNvPr id="24" name="">
            <a:extLst xmlns:a="http://schemas.openxmlformats.org/drawingml/2006/main">
              <a:ext uri="{FF2B5EF4-FFF2-40B4-BE49-F238E27FC236}">
                <a16:creationId xmlns:a16="http://schemas.microsoft.com/office/drawing/2014/main" id="{972486FC-F5BB-40C9-B5E4-A4DA7176C189}"/>
              </a:ext>
            </a:extLst>
          </p:cNvPr>
          <p:cNvSpPr>
            <a:spLocks xmlns:a="http://schemas.openxmlformats.org/drawingml/2006/main" noGrp="1"/>
          </p:cNvSpPr>
          <p:nvPr/>
        </p:nvSpPr>
        <p:spPr>
          <a:xfrm xmlns:a="http://schemas.openxmlformats.org/drawingml/2006/main">
            <a:off x="4524375" y="4143375"/>
            <a:ext cx="31432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DEEA"/>
            </a:solidFill>
          </a:ln>
        </p:spPr>
      </p:sp>
      <p:sp>
        <p:nvSpPr>
          <p:cNvPr id="25" name="">
            <a:extLst xmlns:a="http://schemas.openxmlformats.org/drawingml/2006/main">
              <a:ext uri="{FF2B5EF4-FFF2-40B4-BE49-F238E27FC236}">
                <a16:creationId xmlns:a16="http://schemas.microsoft.com/office/drawing/2014/main" id="{1ACAD202-2D3D-4A7A-B7E9-0A457BA9F388}"/>
              </a:ext>
            </a:extLst>
          </p:cNvPr>
          <p:cNvSpPr>
            <a:spLocks xmlns:a="http://schemas.openxmlformats.org/drawingml/2006/main" noGrp="1"/>
          </p:cNvSpPr>
          <p:nvPr/>
        </p:nvSpPr>
        <p:spPr>
          <a:xfrm xmlns:a="http://schemas.openxmlformats.org/drawingml/2006/main">
            <a:off x="4705350" y="431482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2544"/>
                </a:solidFill>
                <a:latin typeface="Arial"/>
                <a:ea typeface="Arial"/>
                <a:cs typeface="Arial"/>
              </a:defRPr>
            </a:defPPr>
          </a:lstStyle>
          <a:p xmlns:a="http://schemas.openxmlformats.org/drawingml/2006/main">
            <a:pPr>
              <a:defRPr sz="2100" b="1">
                <a:solidFill>
                  <a:srgbClr val="172544"/>
                </a:solidFill>
                <a:latin typeface="Arial"/>
                <a:ea typeface="Arial"/>
                <a:cs typeface="Arial"/>
              </a:defRPr>
            </a:pPr>
            <a:r>
              <a:rPr sz="2100" b="1">
                <a:solidFill>
                  <a:srgbClr val="172544"/>
                </a:solidFill>
                <a:latin typeface="Arial"/>
                <a:ea typeface="Arial"/>
                <a:cs typeface="Arial"/>
              </a:rPr>
              <a:t>ML service</a:t>
            </a:r>
          </a:p>
        </p:txBody>
      </p:sp>
      <p:sp>
        <p:nvSpPr>
          <p:cNvPr id="26" name="">
            <a:extLst xmlns:a="http://schemas.openxmlformats.org/drawingml/2006/main">
              <a:ext uri="{FF2B5EF4-FFF2-40B4-BE49-F238E27FC236}">
                <a16:creationId xmlns:a16="http://schemas.microsoft.com/office/drawing/2014/main" id="{CE310A6B-3250-46DA-8EE1-24E11EB55F23}"/>
              </a:ext>
            </a:extLst>
          </p:cNvPr>
          <p:cNvSpPr>
            <a:spLocks xmlns:a="http://schemas.openxmlformats.org/drawingml/2006/main" noGrp="1"/>
          </p:cNvSpPr>
          <p:nvPr/>
        </p:nvSpPr>
        <p:spPr>
          <a:xfrm xmlns:a="http://schemas.openxmlformats.org/drawingml/2006/main">
            <a:off x="4705350" y="4762500"/>
            <a:ext cx="27813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Versioned models and real SHAP values</a:t>
            </a:r>
          </a:p>
        </p:txBody>
      </p:sp>
      <p:sp>
        <p:nvSpPr>
          <p:cNvPr id="27" name="">
            <a:extLst xmlns:a="http://schemas.openxmlformats.org/drawingml/2006/main">
              <a:ext uri="{FF2B5EF4-FFF2-40B4-BE49-F238E27FC236}">
                <a16:creationId xmlns:a16="http://schemas.microsoft.com/office/drawing/2014/main" id="{6C826679-98FD-4663-AC96-4DA3325D7E9C}"/>
              </a:ext>
            </a:extLst>
          </p:cNvPr>
          <p:cNvSpPr>
            <a:spLocks xmlns:a="http://schemas.openxmlformats.org/drawingml/2006/main" noGrp="1"/>
          </p:cNvSpPr>
          <p:nvPr/>
        </p:nvSpPr>
        <p:spPr>
          <a:xfrm xmlns:a="http://schemas.openxmlformats.org/drawingml/2006/main">
            <a:off x="8439150" y="4143375"/>
            <a:ext cx="31432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DEEA"/>
            </a:solidFill>
          </a:ln>
        </p:spPr>
      </p:sp>
      <p:sp>
        <p:nvSpPr>
          <p:cNvPr id="28" name="">
            <a:extLst xmlns:a="http://schemas.openxmlformats.org/drawingml/2006/main">
              <a:ext uri="{FF2B5EF4-FFF2-40B4-BE49-F238E27FC236}">
                <a16:creationId xmlns:a16="http://schemas.microsoft.com/office/drawing/2014/main" id="{EF59A06A-AEAA-4C15-A173-5637BCEFB813}"/>
              </a:ext>
            </a:extLst>
          </p:cNvPr>
          <p:cNvSpPr>
            <a:spLocks xmlns:a="http://schemas.openxmlformats.org/drawingml/2006/main" noGrp="1"/>
          </p:cNvSpPr>
          <p:nvPr/>
        </p:nvSpPr>
        <p:spPr>
          <a:xfrm xmlns:a="http://schemas.openxmlformats.org/drawingml/2006/main">
            <a:off x="8620125" y="431482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2544"/>
                </a:solidFill>
                <a:latin typeface="Arial"/>
                <a:ea typeface="Arial"/>
                <a:cs typeface="Arial"/>
              </a:defRPr>
            </a:defPPr>
          </a:lstStyle>
          <a:p xmlns:a="http://schemas.openxmlformats.org/drawingml/2006/main">
            <a:pPr>
              <a:defRPr sz="2100" b="1">
                <a:solidFill>
                  <a:srgbClr val="172544"/>
                </a:solidFill>
                <a:latin typeface="Arial"/>
                <a:ea typeface="Arial"/>
                <a:cs typeface="Arial"/>
              </a:defRPr>
            </a:pPr>
            <a:r>
              <a:rPr sz="2100" b="1">
                <a:solidFill>
                  <a:srgbClr val="172544"/>
                </a:solidFill>
                <a:latin typeface="Arial"/>
                <a:ea typeface="Arial"/>
                <a:cs typeface="Arial"/>
              </a:rPr>
              <a:t>Document service</a:t>
            </a:r>
          </a:p>
        </p:txBody>
      </p:sp>
      <p:sp>
        <p:nvSpPr>
          <p:cNvPr id="29" name="">
            <a:extLst xmlns:a="http://schemas.openxmlformats.org/drawingml/2006/main">
              <a:ext uri="{FF2B5EF4-FFF2-40B4-BE49-F238E27FC236}">
                <a16:creationId xmlns:a16="http://schemas.microsoft.com/office/drawing/2014/main" id="{928891C6-7992-499E-AC95-8928B1C84ADB}"/>
              </a:ext>
            </a:extLst>
          </p:cNvPr>
          <p:cNvSpPr>
            <a:spLocks xmlns:a="http://schemas.openxmlformats.org/drawingml/2006/main" noGrp="1"/>
          </p:cNvSpPr>
          <p:nvPr/>
        </p:nvSpPr>
        <p:spPr>
          <a:xfrm xmlns:a="http://schemas.openxmlformats.org/drawingml/2006/main">
            <a:off x="8620125" y="4762500"/>
            <a:ext cx="27813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Uploads, text extraction and field review</a:t>
            </a:r>
          </a:p>
        </p:txBody>
      </p:sp>
      <p:sp>
        <p:nvSpPr>
          <p:cNvPr id="30" name="">
            <a:extLst xmlns:a="http://schemas.openxmlformats.org/drawingml/2006/main">
              <a:ext uri="{FF2B5EF4-FFF2-40B4-BE49-F238E27FC236}">
                <a16:creationId xmlns:a16="http://schemas.microsoft.com/office/drawing/2014/main" id="{7B4ECBAF-2FBB-42EE-87A1-324894012F09}"/>
              </a:ext>
            </a:extLst>
          </p:cNvPr>
          <p:cNvSpPr>
            <a:spLocks xmlns:a="http://schemas.openxmlformats.org/drawingml/2006/main" noGrp="1"/>
          </p:cNvSpPr>
          <p:nvPr/>
        </p:nvSpPr>
        <p:spPr>
          <a:xfrm xmlns:a="http://schemas.openxmlformats.org/drawingml/2006/main">
            <a:off x="609600" y="5915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Local implementation • No live bureau connection • No external LLM</a:t>
            </a:r>
          </a:p>
        </p:txBody>
      </p:sp>
    </p:spTree>
    <p:extLst>
      <p:ext uri="{BB962C8B-B14F-4D97-AF65-F5344CB8AC3E}">
        <p14:creationId xmlns:p14="http://schemas.microsoft.com/office/powerpoint/2010/main" val="181906135"/>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C1501E-DB06-4C32-BFB1-B7E4B3C57C19}"/>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TECHNICAL</a:t>
            </a:r>
          </a:p>
        </p:txBody>
      </p:sp>
      <p:sp>
        <p:nvSpPr>
          <p:cNvPr id="2" name="">
            <a:extLst xmlns:a="http://schemas.openxmlformats.org/drawingml/2006/main">
              <a:ext uri="{FF2B5EF4-FFF2-40B4-BE49-F238E27FC236}">
                <a16:creationId xmlns:a16="http://schemas.microsoft.com/office/drawing/2014/main" id="{33D548E7-584A-4F1B-A36D-6189E755CE64}"/>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Feature selection logic</a:t>
            </a:r>
          </a:p>
        </p:txBody>
      </p:sp>
      <p:sp>
        <p:nvSpPr>
          <p:cNvPr id="3" name="">
            <a:extLst xmlns:a="http://schemas.openxmlformats.org/drawingml/2006/main">
              <a:ext uri="{FF2B5EF4-FFF2-40B4-BE49-F238E27FC236}">
                <a16:creationId xmlns:a16="http://schemas.microsoft.com/office/drawing/2014/main" id="{A462BF2B-0AF7-4D70-BBD3-30F3FC0F4369}"/>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34B33B20-516C-43E5-95E4-FB82C37BA179}"/>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E47934B9-F80F-4AB5-B2C1-FE2955E614C4}"/>
              </a:ext>
            </a:extLst>
          </p:cNvPr>
          <p:cNvGraphicFramePr/>
          <p:nvPr/>
        </p:nvGraphicFramePr>
        <p:xfrm>
          <a:off xmlns:a="http://schemas.openxmlformats.org/drawingml/2006/main" x="609600" y="1666875"/>
          <a:ext xmlns:a="http://schemas.openxmlformats.org/drawingml/2006/main" cx="10972800" cy="3800475"/>
        </p:xfrm>
        <a:graphic xmlns:a="http://schemas.openxmlformats.org/drawingml/2006/main">
          <a:graphicData uri="http://schemas.openxmlformats.org/drawingml/2006/table">
            <a:tbl>
              <a:tblPr/>
              <a:tblGrid>
                <a:gridCol w="2667000"/>
                <a:gridCol w="4143375"/>
                <a:gridCol w="4162425"/>
              </a:tblGrid>
              <a:tr h="542925">
                <a:tc>
                  <a:txBody>
                    <a:bodyPr/>
                    <a:lstStyle/>
                    <a:p>
                      <a:r>
                        <a:rPr sz="1725" b="1">
                          <a:solidFill>
                            <a:srgbClr val="FFFFFF"/>
                          </a:solidFill>
                          <a:latin typeface="Arial"/>
                          <a:ea typeface="Arial"/>
                          <a:cs typeface="Arial"/>
                        </a:rPr>
                        <a:t>Feature</a:t>
                      </a:r>
                    </a:p>
                  </a:txBody>
                  <a:tcPr marL="91440" marR="91440" marT="45720" marB="45720">
                    <a:solidFill>
                      <a:srgbClr val="172544"/>
                    </a:solidFill>
                  </a:tcPr>
                </a:tc>
                <a:tc>
                  <a:txBody>
                    <a:bodyPr/>
                    <a:lstStyle/>
                    <a:p>
                      <a:r>
                        <a:rPr sz="1725" b="1">
                          <a:solidFill>
                            <a:srgbClr val="FFFFFF"/>
                          </a:solidFill>
                          <a:latin typeface="Arial"/>
                          <a:ea typeface="Arial"/>
                          <a:cs typeface="Arial"/>
                        </a:rPr>
                        <a:t>Reason for inclusion</a:t>
                      </a:r>
                    </a:p>
                  </a:txBody>
                  <a:tcPr marL="91440" marR="91440" marT="45720" marB="45720">
                    <a:solidFill>
                      <a:srgbClr val="172544"/>
                    </a:solidFill>
                  </a:tcPr>
                </a:tc>
                <a:tc>
                  <a:txBody>
                    <a:bodyPr/>
                    <a:lstStyle/>
                    <a:p>
                      <a:r>
                        <a:rPr sz="1725" b="1">
                          <a:solidFill>
                            <a:srgbClr val="FFFFFF"/>
                          </a:solidFill>
                          <a:latin typeface="Arial"/>
                          <a:ea typeface="Arial"/>
                          <a:cs typeface="Arial"/>
                        </a:rPr>
                        <a:t>Input interpretation</a:t>
                      </a:r>
                    </a:p>
                  </a:txBody>
                  <a:tcPr marL="91440" marR="91440" marT="45720" marB="45720">
                    <a:solidFill>
                      <a:srgbClr val="172544"/>
                    </a:solidFill>
                  </a:tcPr>
                </a:tc>
              </a:tr>
              <a:tr h="542925">
                <a:tc>
                  <a:txBody>
                    <a:bodyPr/>
                    <a:lstStyle/>
                    <a:p>
                      <a:r>
                        <a:rPr sz="1725" b="0">
                          <a:solidFill>
                            <a:srgbClr val="273952"/>
                          </a:solidFill>
                          <a:latin typeface="Arial"/>
                          <a:ea typeface="Arial"/>
                          <a:cs typeface="Arial"/>
                        </a:rPr>
                        <a:t>Credit score</a:t>
                      </a:r>
                    </a:p>
                  </a:txBody>
                  <a:tcPr marL="91440" marR="91440" marT="45720" marB="45720">
                    <a:solidFill>
                      <a:srgbClr val="FFFFFF"/>
                    </a:solidFill>
                  </a:tcPr>
                </a:tc>
                <a:tc>
                  <a:txBody>
                    <a:bodyPr/>
                    <a:lstStyle/>
                    <a:p>
                      <a:r>
                        <a:rPr sz="1725" b="0">
                          <a:solidFill>
                            <a:srgbClr val="273952"/>
                          </a:solidFill>
                          <a:latin typeface="Arial"/>
                          <a:ea typeface="Arial"/>
                          <a:cs typeface="Arial"/>
                        </a:rPr>
                        <a:t>Credit history signal</a:t>
                      </a:r>
                    </a:p>
                  </a:txBody>
                  <a:tcPr marL="91440" marR="91440" marT="45720" marB="45720">
                    <a:solidFill>
                      <a:srgbClr val="FFFFFF"/>
                    </a:solidFill>
                  </a:tcPr>
                </a:tc>
                <a:tc>
                  <a:txBody>
                    <a:bodyPr/>
                    <a:lstStyle/>
                    <a:p>
                      <a:r>
                        <a:rPr sz="1725" b="0">
                          <a:solidFill>
                            <a:srgbClr val="273952"/>
                          </a:solidFill>
                          <a:latin typeface="Arial"/>
                          <a:ea typeface="Arial"/>
                          <a:cs typeface="Arial"/>
                        </a:rPr>
                        <a:t>Reviewed score</a:t>
                      </a:r>
                    </a:p>
                  </a:txBody>
                  <a:tcPr marL="91440" marR="91440" marT="45720" marB="45720">
                    <a:solidFill>
                      <a:srgbClr val="FFFFFF"/>
                    </a:solidFill>
                  </a:tcPr>
                </a:tc>
              </a:tr>
              <a:tr h="542925">
                <a:tc>
                  <a:txBody>
                    <a:bodyPr/>
                    <a:lstStyle/>
                    <a:p>
                      <a:r>
                        <a:rPr sz="1725" b="0">
                          <a:solidFill>
                            <a:srgbClr val="273952"/>
                          </a:solidFill>
                          <a:latin typeface="Arial"/>
                          <a:ea typeface="Arial"/>
                          <a:cs typeface="Arial"/>
                        </a:rPr>
                        <a:t>Repayment burden</a:t>
                      </a:r>
                    </a:p>
                  </a:txBody>
                  <a:tcPr marL="91440" marR="91440" marT="45720" marB="45720">
                    <a:solidFill>
                      <a:srgbClr val="EDF1F8"/>
                    </a:solidFill>
                  </a:tcPr>
                </a:tc>
                <a:tc>
                  <a:txBody>
                    <a:bodyPr/>
                    <a:lstStyle/>
                    <a:p>
                      <a:r>
                        <a:rPr sz="1725" b="0">
                          <a:solidFill>
                            <a:srgbClr val="273952"/>
                          </a:solidFill>
                          <a:latin typeface="Arial"/>
                          <a:ea typeface="Arial"/>
                          <a:cs typeface="Arial"/>
                        </a:rPr>
                        <a:t>Ability to service debt</a:t>
                      </a:r>
                    </a:p>
                  </a:txBody>
                  <a:tcPr marL="91440" marR="91440" marT="45720" marB="45720">
                    <a:solidFill>
                      <a:srgbClr val="EDF1F8"/>
                    </a:solidFill>
                  </a:tcPr>
                </a:tc>
                <a:tc>
                  <a:txBody>
                    <a:bodyPr/>
                    <a:lstStyle/>
                    <a:p>
                      <a:r>
                        <a:rPr sz="1725" b="0">
                          <a:solidFill>
                            <a:srgbClr val="273952"/>
                          </a:solidFill>
                          <a:latin typeface="Arial"/>
                          <a:ea typeface="Arial"/>
                          <a:cs typeface="Arial"/>
                        </a:rPr>
                        <a:t>Debt service / income or cash flow</a:t>
                      </a:r>
                    </a:p>
                  </a:txBody>
                  <a:tcPr marL="91440" marR="91440" marT="45720" marB="45720">
                    <a:solidFill>
                      <a:srgbClr val="EDF1F8"/>
                    </a:solidFill>
                  </a:tcPr>
                </a:tc>
              </a:tr>
              <a:tr h="542925">
                <a:tc>
                  <a:txBody>
                    <a:bodyPr/>
                    <a:lstStyle/>
                    <a:p>
                      <a:r>
                        <a:rPr sz="1725" b="0">
                          <a:solidFill>
                            <a:srgbClr val="273952"/>
                          </a:solidFill>
                          <a:latin typeface="Arial"/>
                          <a:ea typeface="Arial"/>
                          <a:cs typeface="Arial"/>
                        </a:rPr>
                        <a:t>Delinquencies</a:t>
                      </a:r>
                    </a:p>
                  </a:txBody>
                  <a:tcPr marL="91440" marR="91440" marT="45720" marB="45720">
                    <a:solidFill>
                      <a:srgbClr val="FFFFFF"/>
                    </a:solidFill>
                  </a:tcPr>
                </a:tc>
                <a:tc>
                  <a:txBody>
                    <a:bodyPr/>
                    <a:lstStyle/>
                    <a:p>
                      <a:r>
                        <a:rPr sz="1725" b="0">
                          <a:solidFill>
                            <a:srgbClr val="273952"/>
                          </a:solidFill>
                          <a:latin typeface="Arial"/>
                          <a:ea typeface="Arial"/>
                          <a:cs typeface="Arial"/>
                        </a:rPr>
                        <a:t>Prior payment difficulty</a:t>
                      </a:r>
                    </a:p>
                  </a:txBody>
                  <a:tcPr marL="91440" marR="91440" marT="45720" marB="45720">
                    <a:solidFill>
                      <a:srgbClr val="FFFFFF"/>
                    </a:solidFill>
                  </a:tcPr>
                </a:tc>
                <a:tc>
                  <a:txBody>
                    <a:bodyPr/>
                    <a:lstStyle/>
                    <a:p>
                      <a:r>
                        <a:rPr sz="1725" b="0">
                          <a:solidFill>
                            <a:srgbClr val="273952"/>
                          </a:solidFill>
                          <a:latin typeface="Arial"/>
                          <a:ea typeface="Arial"/>
                          <a:cs typeface="Arial"/>
                        </a:rPr>
                        <a:t>Count of reported events</a:t>
                      </a:r>
                    </a:p>
                  </a:txBody>
                  <a:tcPr marL="91440" marR="91440" marT="45720" marB="45720">
                    <a:solidFill>
                      <a:srgbClr val="FFFFFF"/>
                    </a:solidFill>
                  </a:tcPr>
                </a:tc>
              </a:tr>
              <a:tr h="542925">
                <a:tc>
                  <a:txBody>
                    <a:bodyPr/>
                    <a:lstStyle/>
                    <a:p>
                      <a:r>
                        <a:rPr sz="1725" b="0">
                          <a:solidFill>
                            <a:srgbClr val="273952"/>
                          </a:solidFill>
                          <a:latin typeface="Arial"/>
                          <a:ea typeface="Arial"/>
                          <a:cs typeface="Arial"/>
                        </a:rPr>
                        <a:t>Utilization</a:t>
                      </a:r>
                    </a:p>
                  </a:txBody>
                  <a:tcPr marL="91440" marR="91440" marT="45720" marB="45720">
                    <a:solidFill>
                      <a:srgbClr val="EDF1F8"/>
                    </a:solidFill>
                  </a:tcPr>
                </a:tc>
                <a:tc>
                  <a:txBody>
                    <a:bodyPr/>
                    <a:lstStyle/>
                    <a:p>
                      <a:r>
                        <a:rPr sz="1725" b="0">
                          <a:solidFill>
                            <a:srgbClr val="273952"/>
                          </a:solidFill>
                          <a:latin typeface="Arial"/>
                          <a:ea typeface="Arial"/>
                          <a:cs typeface="Arial"/>
                        </a:rPr>
                        <a:t>Use of available credit</a:t>
                      </a:r>
                    </a:p>
                  </a:txBody>
                  <a:tcPr marL="91440" marR="91440" marT="45720" marB="45720">
                    <a:solidFill>
                      <a:srgbClr val="EDF1F8"/>
                    </a:solidFill>
                  </a:tcPr>
                </a:tc>
                <a:tc>
                  <a:txBody>
                    <a:bodyPr/>
                    <a:lstStyle/>
                    <a:p>
                      <a:r>
                        <a:rPr sz="1725" b="0">
                          <a:solidFill>
                            <a:srgbClr val="273952"/>
                          </a:solidFill>
                          <a:latin typeface="Arial"/>
                          <a:ea typeface="Arial"/>
                          <a:cs typeface="Arial"/>
                        </a:rPr>
                        <a:t>Ratio from 0 to 1</a:t>
                      </a:r>
                    </a:p>
                  </a:txBody>
                  <a:tcPr marL="91440" marR="91440" marT="45720" marB="45720">
                    <a:solidFill>
                      <a:srgbClr val="EDF1F8"/>
                    </a:solidFill>
                  </a:tcPr>
                </a:tc>
              </a:tr>
              <a:tr h="542925">
                <a:tc>
                  <a:txBody>
                    <a:bodyPr/>
                    <a:lstStyle/>
                    <a:p>
                      <a:r>
                        <a:rPr sz="1725" b="0">
                          <a:solidFill>
                            <a:srgbClr val="273952"/>
                          </a:solidFill>
                          <a:latin typeface="Arial"/>
                          <a:ea typeface="Arial"/>
                          <a:cs typeface="Arial"/>
                        </a:rPr>
                        <a:t>Stability years</a:t>
                      </a:r>
                    </a:p>
                  </a:txBody>
                  <a:tcPr marL="91440" marR="91440" marT="45720" marB="45720">
                    <a:solidFill>
                      <a:srgbClr val="FFFFFF"/>
                    </a:solidFill>
                  </a:tcPr>
                </a:tc>
                <a:tc>
                  <a:txBody>
                    <a:bodyPr/>
                    <a:lstStyle/>
                    <a:p>
                      <a:r>
                        <a:rPr sz="1725" b="0">
                          <a:solidFill>
                            <a:srgbClr val="273952"/>
                          </a:solidFill>
                          <a:latin typeface="Arial"/>
                          <a:ea typeface="Arial"/>
                          <a:cs typeface="Arial"/>
                        </a:rPr>
                        <a:t>Employment or business continuity</a:t>
                      </a:r>
                    </a:p>
                  </a:txBody>
                  <a:tcPr marL="91440" marR="91440" marT="45720" marB="45720">
                    <a:solidFill>
                      <a:srgbClr val="FFFFFF"/>
                    </a:solidFill>
                  </a:tcPr>
                </a:tc>
                <a:tc>
                  <a:txBody>
                    <a:bodyPr/>
                    <a:lstStyle/>
                    <a:p>
                      <a:r>
                        <a:rPr sz="1725" b="0">
                          <a:solidFill>
                            <a:srgbClr val="273952"/>
                          </a:solidFill>
                          <a:latin typeface="Arial"/>
                          <a:ea typeface="Arial"/>
                          <a:cs typeface="Arial"/>
                        </a:rPr>
                        <a:t>Non-negative years</a:t>
                      </a:r>
                    </a:p>
                  </a:txBody>
                  <a:tcPr marL="91440" marR="91440" marT="45720" marB="45720">
                    <a:solidFill>
                      <a:srgbClr val="FFFFFF"/>
                    </a:solidFill>
                  </a:tcPr>
                </a:tc>
              </a:tr>
              <a:tr h="542925">
                <a:tc>
                  <a:txBody>
                    <a:bodyPr/>
                    <a:lstStyle/>
                    <a:p>
                      <a:r>
                        <a:rPr sz="1725" b="0">
                          <a:solidFill>
                            <a:srgbClr val="273952"/>
                          </a:solidFill>
                          <a:latin typeface="Arial"/>
                          <a:ea typeface="Arial"/>
                          <a:cs typeface="Arial"/>
                        </a:rPr>
                        <a:t>Business flag</a:t>
                      </a:r>
                    </a:p>
                  </a:txBody>
                  <a:tcPr marL="91440" marR="91440" marT="45720" marB="45720">
                    <a:solidFill>
                      <a:srgbClr val="EDF1F8"/>
                    </a:solidFill>
                  </a:tcPr>
                </a:tc>
                <a:tc>
                  <a:txBody>
                    <a:bodyPr/>
                    <a:lstStyle/>
                    <a:p>
                      <a:r>
                        <a:rPr sz="1725" b="0">
                          <a:solidFill>
                            <a:srgbClr val="273952"/>
                          </a:solidFill>
                          <a:latin typeface="Arial"/>
                          <a:ea typeface="Arial"/>
                          <a:cs typeface="Arial"/>
                        </a:rPr>
                        <a:t>Borrower-type mapping</a:t>
                      </a:r>
                    </a:p>
                  </a:txBody>
                  <a:tcPr marL="91440" marR="91440" marT="45720" marB="45720">
                    <a:solidFill>
                      <a:srgbClr val="EDF1F8"/>
                    </a:solidFill>
                  </a:tcPr>
                </a:tc>
                <a:tc>
                  <a:txBody>
                    <a:bodyPr/>
                    <a:lstStyle/>
                    <a:p>
                      <a:r>
                        <a:rPr sz="1725" b="0">
                          <a:solidFill>
                            <a:srgbClr val="273952"/>
                          </a:solidFill>
                          <a:latin typeface="Arial"/>
                          <a:ea typeface="Arial"/>
                          <a:cs typeface="Arial"/>
                        </a:rPr>
                        <a:t>Personal = 0, business = 1</a:t>
                      </a:r>
                    </a:p>
                  </a:txBody>
                  <a:tcPr marL="91440" marR="91440" marT="45720" marB="45720">
                    <a:solidFill>
                      <a:srgbClr val="EDF1F8"/>
                    </a:solidFill>
                  </a:tcPr>
                </a:tc>
              </a:tr>
            </a:tbl>
          </a:graphicData>
        </a:graphic>
      </p:graphicFrame>
      <p:sp>
        <p:nvSpPr>
          <p:cNvPr id="6" name="">
            <a:extLst xmlns:a="http://schemas.openxmlformats.org/drawingml/2006/main">
              <a:ext uri="{FF2B5EF4-FFF2-40B4-BE49-F238E27FC236}">
                <a16:creationId xmlns:a16="http://schemas.microsoft.com/office/drawing/2014/main" id="{90CBADA3-D03D-47A1-BB9E-B9163779603F}"/>
              </a:ext>
            </a:extLst>
          </p:cNvPr>
          <p:cNvSpPr>
            <a:spLocks xmlns:a="http://schemas.openxmlformats.org/drawingml/2006/main" noGrp="1"/>
          </p:cNvSpPr>
          <p:nvPr/>
        </p:nvSpPr>
        <p:spPr>
          <a:xfrm xmlns:a="http://schemas.openxmlformats.org/drawingml/2006/main">
            <a:off x="609600" y="56864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37D80"/>
                </a:solidFill>
                <a:latin typeface="Arial"/>
                <a:ea typeface="Arial"/>
                <a:cs typeface="Arial"/>
              </a:defRPr>
            </a:defPPr>
          </a:lstStyle>
          <a:p xmlns:a="http://schemas.openxmlformats.org/drawingml/2006/main">
            <a:pPr>
              <a:defRPr sz="1875" b="1">
                <a:solidFill>
                  <a:srgbClr val="137D80"/>
                </a:solidFill>
                <a:latin typeface="Arial"/>
                <a:ea typeface="Arial"/>
                <a:cs typeface="Arial"/>
              </a:defRPr>
            </a:pPr>
            <a:r>
              <a:rPr sz="1875" b="1">
                <a:solidFill>
                  <a:srgbClr val="137D80"/>
                </a:solidFill>
                <a:latin typeface="Arial"/>
                <a:ea typeface="Arial"/>
                <a:cs typeface="Arial"/>
              </a:rPr>
              <a:t>Six predefined inputs. No empirical feature-importance or fairness claim.</a:t>
            </a:r>
          </a:p>
        </p:txBody>
      </p:sp>
    </p:spTree>
    <p:extLst>
      <p:ext uri="{BB962C8B-B14F-4D97-AF65-F5344CB8AC3E}">
        <p14:creationId xmlns:p14="http://schemas.microsoft.com/office/powerpoint/2010/main" val="1296675783"/>
      </p:ext>
    </p:extLst>
  </p:cSld>
</p:sld>
</file>

<file path=ppt/slides/slide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287144B-4F68-4D1A-88E6-8EC8081DEF8E}"/>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TECHNICAL</a:t>
            </a:r>
          </a:p>
        </p:txBody>
      </p:sp>
      <p:sp>
        <p:nvSpPr>
          <p:cNvPr id="2" name="">
            <a:extLst xmlns:a="http://schemas.openxmlformats.org/drawingml/2006/main">
              <a:ext uri="{FF2B5EF4-FFF2-40B4-BE49-F238E27FC236}">
                <a16:creationId xmlns:a16="http://schemas.microsoft.com/office/drawing/2014/main" id="{994E2F2C-F230-4770-B1CE-9E6B099F30C9}"/>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Model optimization</a:t>
            </a:r>
          </a:p>
        </p:txBody>
      </p:sp>
      <p:sp>
        <p:nvSpPr>
          <p:cNvPr id="3" name="">
            <a:extLst xmlns:a="http://schemas.openxmlformats.org/drawingml/2006/main">
              <a:ext uri="{FF2B5EF4-FFF2-40B4-BE49-F238E27FC236}">
                <a16:creationId xmlns:a16="http://schemas.microsoft.com/office/drawing/2014/main" id="{E6D7F88E-0936-4699-A89E-4F1B8CB24B23}"/>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AF7256DD-4E58-46C9-8846-E33927D88C2E}"/>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6351F831-4542-44C1-A8A5-59CD4E228A40}"/>
              </a:ext>
            </a:extLst>
          </p:cNvPr>
          <p:cNvGraphicFramePr/>
          <p:nvPr/>
        </p:nvGraphicFramePr>
        <p:xfrm>
          <a:off xmlns:a="http://schemas.openxmlformats.org/drawingml/2006/main" x="609600" y="1724025"/>
          <a:ext xmlns:a="http://schemas.openxmlformats.org/drawingml/2006/main" cx="10972800" cy="2876550"/>
        </p:xfrm>
        <a:graphic xmlns:a="http://schemas.openxmlformats.org/drawingml/2006/main">
          <a:graphicData uri="http://schemas.openxmlformats.org/drawingml/2006/table">
            <a:tbl>
              <a:tblPr/>
              <a:tblGrid>
                <a:gridCol w="2905125"/>
                <a:gridCol w="3971925"/>
                <a:gridCol w="4095750"/>
              </a:tblGrid>
              <a:tr h="719138">
                <a:tc>
                  <a:txBody>
                    <a:bodyPr/>
                    <a:lstStyle/>
                    <a:p>
                      <a:r>
                        <a:rPr sz="1725" b="1">
                          <a:solidFill>
                            <a:srgbClr val="FFFFFF"/>
                          </a:solidFill>
                          <a:latin typeface="Arial"/>
                          <a:ea typeface="Arial"/>
                          <a:cs typeface="Arial"/>
                        </a:rPr>
                        <a:t>Candidate</a:t>
                      </a:r>
                    </a:p>
                  </a:txBody>
                  <a:tcPr marL="91440" marR="91440" marT="45720" marB="45720">
                    <a:solidFill>
                      <a:srgbClr val="172544"/>
                    </a:solidFill>
                  </a:tcPr>
                </a:tc>
                <a:tc>
                  <a:txBody>
                    <a:bodyPr/>
                    <a:lstStyle/>
                    <a:p>
                      <a:r>
                        <a:rPr sz="1725" b="1">
                          <a:solidFill>
                            <a:srgbClr val="FFFFFF"/>
                          </a:solidFill>
                          <a:latin typeface="Arial"/>
                          <a:ea typeface="Arial"/>
                          <a:cs typeface="Arial"/>
                        </a:rPr>
                        <a:t>Search space</a:t>
                      </a:r>
                    </a:p>
                  </a:txBody>
                  <a:tcPr marL="91440" marR="91440" marT="45720" marB="45720">
                    <a:solidFill>
                      <a:srgbClr val="172544"/>
                    </a:solidFill>
                  </a:tcPr>
                </a:tc>
                <a:tc>
                  <a:txBody>
                    <a:bodyPr/>
                    <a:lstStyle/>
                    <a:p>
                      <a:r>
                        <a:rPr sz="1725" b="1">
                          <a:solidFill>
                            <a:srgbClr val="FFFFFF"/>
                          </a:solidFill>
                          <a:latin typeface="Arial"/>
                          <a:ea typeface="Arial"/>
                          <a:cs typeface="Arial"/>
                        </a:rPr>
                        <a:t>Selected configuration</a:t>
                      </a:r>
                    </a:p>
                  </a:txBody>
                  <a:tcPr marL="91440" marR="91440" marT="45720" marB="45720">
                    <a:solidFill>
                      <a:srgbClr val="172544"/>
                    </a:solidFill>
                  </a:tcPr>
                </a:tc>
              </a:tr>
              <a:tr h="719138">
                <a:tc>
                  <a:txBody>
                    <a:bodyPr/>
                    <a:lstStyle/>
                    <a:p>
                      <a:r>
                        <a:rPr sz="1725" b="0">
                          <a:solidFill>
                            <a:srgbClr val="273952"/>
                          </a:solidFill>
                          <a:latin typeface="Arial"/>
                          <a:ea typeface="Arial"/>
                          <a:cs typeface="Arial"/>
                        </a:rPr>
                        <a:t>Logistic Regression</a:t>
                      </a:r>
                    </a:p>
                  </a:txBody>
                  <a:tcPr marL="91440" marR="91440" marT="45720" marB="45720">
                    <a:solidFill>
                      <a:srgbClr val="FFFFFF"/>
                    </a:solidFill>
                  </a:tcPr>
                </a:tc>
                <a:tc>
                  <a:txBody>
                    <a:bodyPr/>
                    <a:lstStyle/>
                    <a:p>
                      <a:r>
                        <a:rPr sz="1725" b="0">
                          <a:solidFill>
                            <a:srgbClr val="273952"/>
                          </a:solidFill>
                          <a:latin typeface="Arial"/>
                          <a:ea typeface="Arial"/>
                          <a:cs typeface="Arial"/>
                        </a:rPr>
                        <a:t>C: 0.1, 1, 10</a:t>
                      </a:r>
                    </a:p>
                  </a:txBody>
                  <a:tcPr marL="91440" marR="91440" marT="45720" marB="45720">
                    <a:solidFill>
                      <a:srgbClr val="FFFFFF"/>
                    </a:solidFill>
                  </a:tcPr>
                </a:tc>
                <a:tc>
                  <a:txBody>
                    <a:bodyPr/>
                    <a:lstStyle/>
                    <a:p>
                      <a:r>
                        <a:rPr sz="1725" b="0">
                          <a:solidFill>
                            <a:srgbClr val="273952"/>
                          </a:solidFill>
                          <a:latin typeface="Arial"/>
                          <a:ea typeface="Arial"/>
                          <a:cs typeface="Arial"/>
                        </a:rPr>
                        <a:t>C = 1 with StandardScaler</a:t>
                      </a:r>
                    </a:p>
                  </a:txBody>
                  <a:tcPr marL="91440" marR="91440" marT="45720" marB="45720">
                    <a:solidFill>
                      <a:srgbClr val="FFFFFF"/>
                    </a:solidFill>
                  </a:tcPr>
                </a:tc>
              </a:tr>
              <a:tr h="719138">
                <a:tc>
                  <a:txBody>
                    <a:bodyPr/>
                    <a:lstStyle/>
                    <a:p>
                      <a:r>
                        <a:rPr sz="1725" b="0">
                          <a:solidFill>
                            <a:srgbClr val="273952"/>
                          </a:solidFill>
                          <a:latin typeface="Arial"/>
                          <a:ea typeface="Arial"/>
                          <a:cs typeface="Arial"/>
                        </a:rPr>
                        <a:t>Random Forest</a:t>
                      </a:r>
                    </a:p>
                  </a:txBody>
                  <a:tcPr marL="91440" marR="91440" marT="45720" marB="45720">
                    <a:solidFill>
                      <a:srgbClr val="EDF1F8"/>
                    </a:solidFill>
                  </a:tcPr>
                </a:tc>
                <a:tc>
                  <a:txBody>
                    <a:bodyPr/>
                    <a:lstStyle/>
                    <a:p>
                      <a:r>
                        <a:rPr sz="1725" b="0">
                          <a:solidFill>
                            <a:srgbClr val="273952"/>
                          </a:solidFill>
                          <a:latin typeface="Arial"/>
                          <a:ea typeface="Arial"/>
                          <a:cs typeface="Arial"/>
                        </a:rPr>
                        <a:t>Depth: 4, 8</a:t>
                      </a:r>
                    </a:p>
                    <a:p>
                      <a:r>
                        <a:rPr sz="1725" b="0">
                          <a:solidFill>
                            <a:srgbClr val="273952"/>
                          </a:solidFill>
                          <a:latin typeface="Arial"/>
                          <a:ea typeface="Arial"/>
                          <a:cs typeface="Arial"/>
                        </a:rPr>
                        <a:t>Min. leaf: 5, 15</a:t>
                      </a:r>
                    </a:p>
                  </a:txBody>
                  <a:tcPr marL="91440" marR="91440" marT="45720" marB="45720">
                    <a:solidFill>
                      <a:srgbClr val="EDF1F8"/>
                    </a:solidFill>
                  </a:tcPr>
                </a:tc>
                <a:tc>
                  <a:txBody>
                    <a:bodyPr/>
                    <a:lstStyle/>
                    <a:p>
                      <a:r>
                        <a:rPr sz="1725" b="0">
                          <a:solidFill>
                            <a:srgbClr val="273952"/>
                          </a:solidFill>
                          <a:latin typeface="Arial"/>
                          <a:ea typeface="Arial"/>
                          <a:cs typeface="Arial"/>
                        </a:rPr>
                        <a:t>Depth = 8, min. leaf = 5</a:t>
                      </a:r>
                    </a:p>
                  </a:txBody>
                  <a:tcPr marL="91440" marR="91440" marT="45720" marB="45720">
                    <a:solidFill>
                      <a:srgbClr val="EDF1F8"/>
                    </a:solidFill>
                  </a:tcPr>
                </a:tc>
              </a:tr>
              <a:tr h="719138">
                <a:tc>
                  <a:txBody>
                    <a:bodyPr/>
                    <a:lstStyle/>
                    <a:p>
                      <a:r>
                        <a:rPr sz="1725" b="0">
                          <a:solidFill>
                            <a:srgbClr val="273952"/>
                          </a:solidFill>
                          <a:latin typeface="Arial"/>
                          <a:ea typeface="Arial"/>
                          <a:cs typeface="Arial"/>
                        </a:rPr>
                        <a:t>XGBoost</a:t>
                      </a:r>
                    </a:p>
                  </a:txBody>
                  <a:tcPr marL="91440" marR="91440" marT="45720" marB="45720">
                    <a:solidFill>
                      <a:srgbClr val="FFFFFF"/>
                    </a:solidFill>
                  </a:tcPr>
                </a:tc>
                <a:tc>
                  <a:txBody>
                    <a:bodyPr/>
                    <a:lstStyle/>
                    <a:p>
                      <a:r>
                        <a:rPr sz="1725" b="0">
                          <a:solidFill>
                            <a:srgbClr val="273952"/>
                          </a:solidFill>
                          <a:latin typeface="Arial"/>
                          <a:ea typeface="Arial"/>
                          <a:cs typeface="Arial"/>
                        </a:rPr>
                        <a:t>Depth: 2, 4</a:t>
                      </a:r>
                    </a:p>
                    <a:p>
                      <a:r>
                        <a:rPr sz="1725" b="0">
                          <a:solidFill>
                            <a:srgbClr val="273952"/>
                          </a:solidFill>
                          <a:latin typeface="Arial"/>
                          <a:ea typeface="Arial"/>
                          <a:cs typeface="Arial"/>
                        </a:rPr>
                        <a:t>Learning rate: 0.05, 0.1</a:t>
                      </a:r>
                    </a:p>
                  </a:txBody>
                  <a:tcPr marL="91440" marR="91440" marT="45720" marB="45720">
                    <a:solidFill>
                      <a:srgbClr val="FFFFFF"/>
                    </a:solidFill>
                  </a:tcPr>
                </a:tc>
                <a:tc>
                  <a:txBody>
                    <a:bodyPr/>
                    <a:lstStyle/>
                    <a:p>
                      <a:r>
                        <a:rPr sz="1725" b="0">
                          <a:solidFill>
                            <a:srgbClr val="273952"/>
                          </a:solidFill>
                          <a:latin typeface="Arial"/>
                          <a:ea typeface="Arial"/>
                          <a:cs typeface="Arial"/>
                        </a:rPr>
                        <a:t>Depth = 2, learning rate = 0.05</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F2E0347-BF2D-49AB-9D7A-AC15EA6833F8}"/>
              </a:ext>
            </a:extLst>
          </p:cNvPr>
          <p:cNvSpPr>
            <a:spLocks xmlns:a="http://schemas.openxmlformats.org/drawingml/2006/main" noGrp="1"/>
          </p:cNvSpPr>
          <p:nvPr/>
        </p:nvSpPr>
        <p:spPr>
          <a:xfrm xmlns:a="http://schemas.openxmlformats.org/drawingml/2006/main">
            <a:off x="609600" y="50006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544"/>
                </a:solidFill>
                <a:latin typeface="Arial"/>
                <a:ea typeface="Arial"/>
                <a:cs typeface="Arial"/>
              </a:defRPr>
            </a:defPPr>
          </a:lstStyle>
          <a:p xmlns:a="http://schemas.openxmlformats.org/drawingml/2006/main">
            <a:pPr>
              <a:defRPr sz="2175" b="1">
                <a:solidFill>
                  <a:srgbClr val="172544"/>
                </a:solidFill>
                <a:latin typeface="Arial"/>
                <a:ea typeface="Arial"/>
                <a:cs typeface="Arial"/>
              </a:defRPr>
            </a:pPr>
            <a:r>
              <a:rPr sz="2175" b="1">
                <a:solidFill>
                  <a:srgbClr val="172544"/>
                </a:solidFill>
                <a:latin typeface="Arial"/>
                <a:ea typeface="Arial"/>
                <a:cs typeface="Arial"/>
              </a:rPr>
              <a:t>1,800 synthetic rows</a:t>
            </a:r>
          </a:p>
        </p:txBody>
      </p:sp>
      <p:sp>
        <p:nvSpPr>
          <p:cNvPr id="7" name="">
            <a:extLst xmlns:a="http://schemas.openxmlformats.org/drawingml/2006/main">
              <a:ext uri="{FF2B5EF4-FFF2-40B4-BE49-F238E27FC236}">
                <a16:creationId xmlns:a16="http://schemas.microsoft.com/office/drawing/2014/main" id="{8CA50D31-4610-42C8-8B06-E8CFFA556EAB}"/>
              </a:ext>
            </a:extLst>
          </p:cNvPr>
          <p:cNvSpPr>
            <a:spLocks xmlns:a="http://schemas.openxmlformats.org/drawingml/2006/main" noGrp="1"/>
          </p:cNvSpPr>
          <p:nvPr/>
        </p:nvSpPr>
        <p:spPr>
          <a:xfrm xmlns:a="http://schemas.openxmlformats.org/drawingml/2006/main">
            <a:off x="4600575" y="50006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4C50BE"/>
                </a:solidFill>
                <a:latin typeface="Arial"/>
                <a:ea typeface="Arial"/>
                <a:cs typeface="Arial"/>
              </a:defRPr>
            </a:defPPr>
          </a:lstStyle>
          <a:p xmlns:a="http://schemas.openxmlformats.org/drawingml/2006/main">
            <a:pPr>
              <a:defRPr sz="2175" b="1">
                <a:solidFill>
                  <a:srgbClr val="4C50BE"/>
                </a:solidFill>
                <a:latin typeface="Arial"/>
                <a:ea typeface="Arial"/>
                <a:cs typeface="Arial"/>
              </a:defRPr>
            </a:pPr>
            <a:r>
              <a:rPr sz="2175" b="1">
                <a:solidFill>
                  <a:srgbClr val="4C50BE"/>
                </a:solidFill>
                <a:latin typeface="Arial"/>
                <a:ea typeface="Arial"/>
                <a:cs typeface="Arial"/>
              </a:rPr>
              <a:t>80% training</a:t>
            </a:r>
          </a:p>
        </p:txBody>
      </p:sp>
      <p:sp>
        <p:nvSpPr>
          <p:cNvPr id="8" name="">
            <a:extLst xmlns:a="http://schemas.openxmlformats.org/drawingml/2006/main">
              <a:ext uri="{FF2B5EF4-FFF2-40B4-BE49-F238E27FC236}">
                <a16:creationId xmlns:a16="http://schemas.microsoft.com/office/drawing/2014/main" id="{98918345-EAC6-4245-A8ED-60B549C3469B}"/>
              </a:ext>
            </a:extLst>
          </p:cNvPr>
          <p:cNvSpPr>
            <a:spLocks xmlns:a="http://schemas.openxmlformats.org/drawingml/2006/main" noGrp="1"/>
          </p:cNvSpPr>
          <p:nvPr/>
        </p:nvSpPr>
        <p:spPr>
          <a:xfrm xmlns:a="http://schemas.openxmlformats.org/drawingml/2006/main">
            <a:off x="8601075" y="500062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7D80"/>
                </a:solidFill>
                <a:latin typeface="Arial"/>
                <a:ea typeface="Arial"/>
                <a:cs typeface="Arial"/>
              </a:defRPr>
            </a:defPPr>
          </a:lstStyle>
          <a:p xmlns:a="http://schemas.openxmlformats.org/drawingml/2006/main">
            <a:pPr>
              <a:defRPr sz="2175" b="1">
                <a:solidFill>
                  <a:srgbClr val="137D80"/>
                </a:solidFill>
                <a:latin typeface="Arial"/>
                <a:ea typeface="Arial"/>
                <a:cs typeface="Arial"/>
              </a:defRPr>
            </a:pPr>
            <a:r>
              <a:rPr sz="2175" b="1">
                <a:solidFill>
                  <a:srgbClr val="137D80"/>
                </a:solidFill>
                <a:latin typeface="Arial"/>
                <a:ea typeface="Arial"/>
                <a:cs typeface="Arial"/>
              </a:rPr>
              <a:t>20% test</a:t>
            </a:r>
          </a:p>
        </p:txBody>
      </p:sp>
      <p:sp>
        <p:nvSpPr>
          <p:cNvPr id="9" name="">
            <a:extLst xmlns:a="http://schemas.openxmlformats.org/drawingml/2006/main">
              <a:ext uri="{FF2B5EF4-FFF2-40B4-BE49-F238E27FC236}">
                <a16:creationId xmlns:a16="http://schemas.microsoft.com/office/drawing/2014/main" id="{45F92D1F-2D2F-4CDF-A272-D3A9A08E8DC0}"/>
              </a:ext>
            </a:extLst>
          </p:cNvPr>
          <p:cNvSpPr>
            <a:spLocks xmlns:a="http://schemas.openxmlformats.org/drawingml/2006/main" noGrp="1"/>
          </p:cNvSpPr>
          <p:nvPr/>
        </p:nvSpPr>
        <p:spPr>
          <a:xfrm xmlns:a="http://schemas.openxmlformats.org/drawingml/2006/main">
            <a:off x="609600" y="5686425"/>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187"/>
                </a:solidFill>
                <a:latin typeface="Arial"/>
                <a:ea typeface="Arial"/>
                <a:cs typeface="Arial"/>
              </a:defRPr>
            </a:defPPr>
          </a:lstStyle>
          <a:p xmlns:a="http://schemas.openxmlformats.org/drawingml/2006/main">
            <a:pPr>
              <a:defRPr sz="1875" b="0">
                <a:solidFill>
                  <a:srgbClr val="627187"/>
                </a:solidFill>
                <a:latin typeface="Arial"/>
                <a:ea typeface="Arial"/>
                <a:cs typeface="Arial"/>
              </a:defRPr>
            </a:pPr>
            <a:r>
              <a:rPr sz="1875" b="0">
                <a:solidFill>
                  <a:srgbClr val="627187"/>
                </a:solidFill>
                <a:latin typeface="Arial"/>
                <a:ea typeface="Arial"/>
                <a:cs typeface="Arial"/>
              </a:rPr>
              <a:t>Stratified split, seed 42. Five training folds. Test set held aside during tuning.</a:t>
            </a:r>
          </a:p>
        </p:txBody>
      </p:sp>
    </p:spTree>
    <p:extLst>
      <p:ext uri="{BB962C8B-B14F-4D97-AF65-F5344CB8AC3E}">
        <p14:creationId xmlns:p14="http://schemas.microsoft.com/office/powerpoint/2010/main" val="56562825"/>
      </p:ext>
    </p:extLst>
  </p:cSld>
</p:sld>
</file>

<file path=ppt/slides/slide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4F79EC-0DAE-4741-9D97-019ED59EC59C}"/>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TECHNICAL</a:t>
            </a:r>
          </a:p>
        </p:txBody>
      </p:sp>
      <p:sp>
        <p:nvSpPr>
          <p:cNvPr id="2" name="">
            <a:extLst xmlns:a="http://schemas.openxmlformats.org/drawingml/2006/main">
              <a:ext uri="{FF2B5EF4-FFF2-40B4-BE49-F238E27FC236}">
                <a16:creationId xmlns:a16="http://schemas.microsoft.com/office/drawing/2014/main" id="{3EBFACA2-D581-4FC9-9BE4-E6DA2B51A452}"/>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Cross-validation results</a:t>
            </a:r>
          </a:p>
        </p:txBody>
      </p:sp>
      <p:sp>
        <p:nvSpPr>
          <p:cNvPr id="3" name="">
            <a:extLst xmlns:a="http://schemas.openxmlformats.org/drawingml/2006/main">
              <a:ext uri="{FF2B5EF4-FFF2-40B4-BE49-F238E27FC236}">
                <a16:creationId xmlns:a16="http://schemas.microsoft.com/office/drawing/2014/main" id="{78FCECDE-06A3-4115-A567-16F9CC7CEA64}"/>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5EE9AE46-15A6-4CBA-9663-7E068EE49C51}"/>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09</a:t>
            </a:r>
          </a:p>
        </p:txBody>
      </p:sp>
      <p:graphicFrame>
        <p:nvGraphicFramePr>
          <p:cNvPr id="5" name="Chart">
            <a:extLst xmlns:a="http://schemas.openxmlformats.org/drawingml/2006/main">
              <a:ext uri="{FF2B5EF4-FFF2-40B4-BE49-F238E27FC236}">
                <a16:creationId xmlns:a16="http://schemas.microsoft.com/office/drawing/2014/main" id="{CF9B8468-8DAC-40F6-A95F-2628E9CDB353}"/>
              </a:ext>
            </a:extLst>
          </p:cNvPr>
          <p:cNvGraphicFramePr/>
          <p:nvPr/>
        </p:nvGraphicFramePr>
        <p:xfrm>
          <a:off xmlns:a="http://schemas.openxmlformats.org/drawingml/2006/main" x="609600" y="1781175"/>
          <a:ext xmlns:a="http://schemas.openxmlformats.org/drawingml/2006/main" cx="7524750" cy="3457575"/>
        </p:xfrm>
        <a:graphic xmlns:a="http://schemas.openxmlformats.org/drawingml/2006/main">
          <a:graphicData uri="http://schemas.openxmlformats.org/drawingml/2006/chart">
            <c:chart xmlns:r="http://schemas.openxmlformats.org/officeDocument/2006/relationships" xmlns:c="http://schemas.openxmlformats.org/drawingml/2006/chart" r:id="R47a3fc323c554784"/>
          </a:graphicData>
        </a:graphic>
      </p:graphicFrame>
      <p:sp>
        <p:nvSpPr>
          <p:cNvPr id="6" name="">
            <a:extLst xmlns:a="http://schemas.openxmlformats.org/drawingml/2006/main">
              <a:ext uri="{FF2B5EF4-FFF2-40B4-BE49-F238E27FC236}">
                <a16:creationId xmlns:a16="http://schemas.microsoft.com/office/drawing/2014/main" id="{2B99D320-E3C1-4F7F-B143-D841952C524D}"/>
              </a:ext>
            </a:extLst>
          </p:cNvPr>
          <p:cNvSpPr>
            <a:spLocks xmlns:a="http://schemas.openxmlformats.org/drawingml/2006/main" noGrp="1"/>
          </p:cNvSpPr>
          <p:nvPr/>
        </p:nvSpPr>
        <p:spPr>
          <a:xfrm xmlns:a="http://schemas.openxmlformats.org/drawingml/2006/main">
            <a:off x="8572500" y="1819275"/>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187"/>
                </a:solidFill>
                <a:latin typeface="Arial"/>
                <a:ea typeface="Arial"/>
                <a:cs typeface="Arial"/>
              </a:defRPr>
            </a:defPPr>
          </a:lstStyle>
          <a:p xmlns:a="http://schemas.openxmlformats.org/drawingml/2006/main">
            <a:pPr>
              <a:defRPr sz="1875" b="0">
                <a:solidFill>
                  <a:srgbClr val="627187"/>
                </a:solidFill>
                <a:latin typeface="Arial"/>
                <a:ea typeface="Arial"/>
                <a:cs typeface="Arial"/>
              </a:defRPr>
            </a:pPr>
            <a:r>
              <a:rPr sz="1875" b="0">
                <a:solidFill>
                  <a:srgbClr val="627187"/>
                </a:solidFill>
                <a:latin typeface="Arial"/>
                <a:ea typeface="Arial"/>
                <a:cs typeface="Arial"/>
              </a:rPr>
              <a:t>Selected</a:t>
            </a:r>
          </a:p>
        </p:txBody>
      </p:sp>
      <p:sp>
        <p:nvSpPr>
          <p:cNvPr id="7" name="">
            <a:extLst xmlns:a="http://schemas.openxmlformats.org/drawingml/2006/main">
              <a:ext uri="{FF2B5EF4-FFF2-40B4-BE49-F238E27FC236}">
                <a16:creationId xmlns:a16="http://schemas.microsoft.com/office/drawing/2014/main" id="{ECCED5D4-44A5-4DB6-B3E7-7FC9590FB505}"/>
              </a:ext>
            </a:extLst>
          </p:cNvPr>
          <p:cNvSpPr>
            <a:spLocks xmlns:a="http://schemas.openxmlformats.org/drawingml/2006/main" noGrp="1"/>
          </p:cNvSpPr>
          <p:nvPr/>
        </p:nvSpPr>
        <p:spPr>
          <a:xfrm xmlns:a="http://schemas.openxmlformats.org/drawingml/2006/main">
            <a:off x="8572500" y="2324100"/>
            <a:ext cx="295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2544"/>
                </a:solidFill>
                <a:latin typeface="Arial"/>
                <a:ea typeface="Arial"/>
                <a:cs typeface="Arial"/>
              </a:defRPr>
            </a:defPPr>
          </a:lstStyle>
          <a:p xmlns:a="http://schemas.openxmlformats.org/drawingml/2006/main">
            <a:pPr>
              <a:defRPr sz="2925" b="1">
                <a:solidFill>
                  <a:srgbClr val="172544"/>
                </a:solidFill>
                <a:latin typeface="Arial"/>
                <a:ea typeface="Arial"/>
                <a:cs typeface="Arial"/>
              </a:defRPr>
            </a:pPr>
            <a:r>
              <a:rPr sz="2925" b="1">
                <a:solidFill>
                  <a:srgbClr val="172544"/>
                </a:solidFill>
                <a:latin typeface="Arial"/>
                <a:ea typeface="Arial"/>
                <a:cs typeface="Arial"/>
              </a:rPr>
              <a:t>Logistic</a:t>
            </a:r>
          </a:p>
          <a:p xmlns:a="http://schemas.openxmlformats.org/drawingml/2006/main">
            <a:pPr>
              <a:defRPr sz="2925" b="1">
                <a:solidFill>
                  <a:srgbClr val="172544"/>
                </a:solidFill>
                <a:latin typeface="Arial"/>
                <a:ea typeface="Arial"/>
                <a:cs typeface="Arial"/>
              </a:defRPr>
            </a:pPr>
            <a:r>
              <a:rPr sz="2925" b="1">
                <a:solidFill>
                  <a:srgbClr val="172544"/>
                </a:solidFill>
                <a:latin typeface="Arial"/>
                <a:ea typeface="Arial"/>
                <a:cs typeface="Arial"/>
              </a:rPr>
              <a:t>Regression</a:t>
            </a:r>
          </a:p>
        </p:txBody>
      </p:sp>
      <p:sp>
        <p:nvSpPr>
          <p:cNvPr id="8" name="">
            <a:extLst xmlns:a="http://schemas.openxmlformats.org/drawingml/2006/main">
              <a:ext uri="{FF2B5EF4-FFF2-40B4-BE49-F238E27FC236}">
                <a16:creationId xmlns:a16="http://schemas.microsoft.com/office/drawing/2014/main" id="{45D84EE0-F263-40AA-A998-A9697A562615}"/>
              </a:ext>
            </a:extLst>
          </p:cNvPr>
          <p:cNvSpPr>
            <a:spLocks xmlns:a="http://schemas.openxmlformats.org/drawingml/2006/main" noGrp="1"/>
          </p:cNvSpPr>
          <p:nvPr/>
        </p:nvSpPr>
        <p:spPr>
          <a:xfrm xmlns:a="http://schemas.openxmlformats.org/drawingml/2006/main">
            <a:off x="8572500" y="371475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37D80"/>
                </a:solidFill>
                <a:latin typeface="Arial"/>
                <a:ea typeface="Arial"/>
                <a:cs typeface="Arial"/>
              </a:defRPr>
            </a:defPPr>
          </a:lstStyle>
          <a:p xmlns:a="http://schemas.openxmlformats.org/drawingml/2006/main">
            <a:pPr>
              <a:defRPr sz="2400" b="1">
                <a:solidFill>
                  <a:srgbClr val="137D80"/>
                </a:solidFill>
                <a:latin typeface="Arial"/>
                <a:ea typeface="Arial"/>
                <a:cs typeface="Arial"/>
              </a:defRPr>
            </a:pPr>
            <a:r>
              <a:rPr sz="2400" b="1">
                <a:solidFill>
                  <a:srgbClr val="137D80"/>
                </a:solidFill>
                <a:latin typeface="Arial"/>
                <a:ea typeface="Arial"/>
                <a:cs typeface="Arial"/>
              </a:rPr>
              <a:t>0.867 ± 0.013</a:t>
            </a:r>
          </a:p>
        </p:txBody>
      </p:sp>
      <p:sp>
        <p:nvSpPr>
          <p:cNvPr id="9" name="">
            <a:extLst xmlns:a="http://schemas.openxmlformats.org/drawingml/2006/main">
              <a:ext uri="{FF2B5EF4-FFF2-40B4-BE49-F238E27FC236}">
                <a16:creationId xmlns:a16="http://schemas.microsoft.com/office/drawing/2014/main" id="{76557DF0-EF0C-4B9C-B5C0-D0F6A3B06E38}"/>
              </a:ext>
            </a:extLst>
          </p:cNvPr>
          <p:cNvSpPr>
            <a:spLocks xmlns:a="http://schemas.openxmlformats.org/drawingml/2006/main" noGrp="1"/>
          </p:cNvSpPr>
          <p:nvPr/>
        </p:nvSpPr>
        <p:spPr>
          <a:xfrm xmlns:a="http://schemas.openxmlformats.org/drawingml/2006/main">
            <a:off x="8572500" y="4486275"/>
            <a:ext cx="295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27187"/>
                </a:solidFill>
                <a:latin typeface="Arial"/>
                <a:ea typeface="Arial"/>
                <a:cs typeface="Arial"/>
              </a:defRPr>
            </a:defPPr>
          </a:lstStyle>
          <a:p xmlns:a="http://schemas.openxmlformats.org/drawingml/2006/main">
            <a:pPr>
              <a:defRPr sz="1800" b="0">
                <a:solidFill>
                  <a:srgbClr val="627187"/>
                </a:solidFill>
                <a:latin typeface="Arial"/>
                <a:ea typeface="Arial"/>
                <a:cs typeface="Arial"/>
              </a:defRPr>
            </a:pPr>
            <a:r>
              <a:rPr sz="1800" b="0">
                <a:solidFill>
                  <a:srgbClr val="627187"/>
                </a:solidFill>
                <a:latin typeface="Arial"/>
                <a:ea typeface="Arial"/>
                <a:cs typeface="Arial"/>
              </a:rPr>
              <a:t>Highest mean CV AUC</a:t>
            </a:r>
          </a:p>
          <a:p xmlns:a="http://schemas.openxmlformats.org/drawingml/2006/main">
            <a:pPr>
              <a:defRPr sz="1800" b="0">
                <a:solidFill>
                  <a:srgbClr val="627187"/>
                </a:solidFill>
                <a:latin typeface="Arial"/>
                <a:ea typeface="Arial"/>
                <a:cs typeface="Arial"/>
              </a:defRPr>
            </a:pPr>
            <a:r>
              <a:rPr sz="1800" b="0">
                <a:solidFill>
                  <a:srgbClr val="627187"/>
                </a:solidFill>
                <a:latin typeface="Arial"/>
                <a:ea typeface="Arial"/>
                <a:cs typeface="Arial"/>
              </a:rPr>
              <a:t>Fold dispersion overlaps</a:t>
            </a:r>
          </a:p>
        </p:txBody>
      </p:sp>
      <p:sp>
        <p:nvSpPr>
          <p:cNvPr id="10" name="">
            <a:extLst xmlns:a="http://schemas.openxmlformats.org/drawingml/2006/main">
              <a:ext uri="{FF2B5EF4-FFF2-40B4-BE49-F238E27FC236}">
                <a16:creationId xmlns:a16="http://schemas.microsoft.com/office/drawing/2014/main" id="{829591FB-19AE-4629-A2BF-EA0BB7ACB81C}"/>
              </a:ext>
            </a:extLst>
          </p:cNvPr>
          <p:cNvSpPr>
            <a:spLocks xmlns:a="http://schemas.openxmlformats.org/drawingml/2006/main" noGrp="1"/>
          </p:cNvSpPr>
          <p:nvPr/>
        </p:nvSpPr>
        <p:spPr>
          <a:xfrm xmlns:a="http://schemas.openxmlformats.org/drawingml/2006/main">
            <a:off x="609600" y="56483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73952"/>
                </a:solidFill>
                <a:latin typeface="Arial"/>
                <a:ea typeface="Arial"/>
                <a:cs typeface="Arial"/>
              </a:defRPr>
            </a:defPPr>
          </a:lstStyle>
          <a:p xmlns:a="http://schemas.openxmlformats.org/drawingml/2006/main">
            <a:pPr>
              <a:defRPr sz="1725" b="0">
                <a:solidFill>
                  <a:srgbClr val="273952"/>
                </a:solidFill>
                <a:latin typeface="Arial"/>
                <a:ea typeface="Arial"/>
                <a:cs typeface="Arial"/>
              </a:defRPr>
            </a:pPr>
            <a:r>
              <a:rPr sz="1725" b="0">
                <a:solidFill>
                  <a:srgbClr val="273952"/>
                </a:solidFill>
                <a:latin typeface="Arial"/>
                <a:ea typeface="Arial"/>
                <a:cs typeface="Arial"/>
              </a:rPr>
              <a:t>Mean ± fold standard deviation: LR 0.867 ± 0.013   RF 0.854 ± 0.010   XGB 0.855 ± 0.012</a:t>
            </a:r>
          </a:p>
        </p:txBody>
      </p:sp>
    </p:spTree>
    <p:extLst>
      <p:ext uri="{BB962C8B-B14F-4D97-AF65-F5344CB8AC3E}">
        <p14:creationId xmlns:p14="http://schemas.microsoft.com/office/powerpoint/2010/main" val="90302358"/>
      </p:ext>
    </p:extLst>
  </p:cSld>
</p:sld>
</file>

<file path=ppt/slides/slide1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28BEEA-3F9D-4FCA-AA05-0F89F8AD8423}"/>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TECHNICAL</a:t>
            </a:r>
          </a:p>
        </p:txBody>
      </p:sp>
      <p:sp>
        <p:nvSpPr>
          <p:cNvPr id="2" name="">
            <a:extLst xmlns:a="http://schemas.openxmlformats.org/drawingml/2006/main">
              <a:ext uri="{FF2B5EF4-FFF2-40B4-BE49-F238E27FC236}">
                <a16:creationId xmlns:a16="http://schemas.microsoft.com/office/drawing/2014/main" id="{2DCDC72E-E0A8-4DC7-B6A4-7FBB7288C7E6}"/>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Validation on 360 held-out cases</a:t>
            </a:r>
          </a:p>
        </p:txBody>
      </p:sp>
      <p:sp>
        <p:nvSpPr>
          <p:cNvPr id="3" name="">
            <a:extLst xmlns:a="http://schemas.openxmlformats.org/drawingml/2006/main">
              <a:ext uri="{FF2B5EF4-FFF2-40B4-BE49-F238E27FC236}">
                <a16:creationId xmlns:a16="http://schemas.microsoft.com/office/drawing/2014/main" id="{7B932EFC-ED9E-4D6C-83E8-84D6CE1FD9DC}"/>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C653B53B-95B6-4AF2-93D0-8D6BEC51C1CA}"/>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842E8E65-F35C-471F-82AE-0BECF36B9EF8}"/>
              </a:ext>
            </a:extLst>
          </p:cNvPr>
          <p:cNvGraphicFramePr/>
          <p:nvPr/>
        </p:nvGraphicFramePr>
        <p:xfrm>
          <a:off xmlns:a="http://schemas.openxmlformats.org/drawingml/2006/main" x="609600" y="1819275"/>
          <a:ext xmlns:a="http://schemas.openxmlformats.org/drawingml/2006/main" cx="10972800" cy="2609850"/>
        </p:xfrm>
        <a:graphic xmlns:a="http://schemas.openxmlformats.org/drawingml/2006/main">
          <a:graphicData uri="http://schemas.openxmlformats.org/drawingml/2006/table">
            <a:tbl>
              <a:tblPr/>
              <a:tblGrid>
                <a:gridCol w="3352800"/>
                <a:gridCol w="1905000"/>
                <a:gridCol w="1905000"/>
                <a:gridCol w="1905000"/>
                <a:gridCol w="1905000"/>
              </a:tblGrid>
              <a:tr h="652463">
                <a:tc>
                  <a:txBody>
                    <a:bodyPr/>
                    <a:lstStyle/>
                    <a:p>
                      <a:r>
                        <a:rPr sz="1725" b="1">
                          <a:solidFill>
                            <a:srgbClr val="FFFFFF"/>
                          </a:solidFill>
                          <a:latin typeface="Arial"/>
                          <a:ea typeface="Arial"/>
                          <a:cs typeface="Arial"/>
                        </a:rPr>
                        <a:t>Model</a:t>
                      </a:r>
                    </a:p>
                  </a:txBody>
                  <a:tcPr marL="91440" marR="91440" marT="45720" marB="45720">
                    <a:solidFill>
                      <a:srgbClr val="172544"/>
                    </a:solidFill>
                  </a:tcPr>
                </a:tc>
                <a:tc>
                  <a:txBody>
                    <a:bodyPr/>
                    <a:lstStyle/>
                    <a:p>
                      <a:r>
                        <a:rPr sz="1725" b="1">
                          <a:solidFill>
                            <a:srgbClr val="FFFFFF"/>
                          </a:solidFill>
                          <a:latin typeface="Arial"/>
                          <a:ea typeface="Arial"/>
                          <a:cs typeface="Arial"/>
                        </a:rPr>
                        <a:t>ROC-AUC</a:t>
                      </a:r>
                    </a:p>
                  </a:txBody>
                  <a:tcPr marL="91440" marR="91440" marT="45720" marB="45720">
                    <a:solidFill>
                      <a:srgbClr val="172544"/>
                    </a:solidFill>
                  </a:tcPr>
                </a:tc>
                <a:tc>
                  <a:txBody>
                    <a:bodyPr/>
                    <a:lstStyle/>
                    <a:p>
                      <a:r>
                        <a:rPr sz="1725" b="1">
                          <a:solidFill>
                            <a:srgbClr val="FFFFFF"/>
                          </a:solidFill>
                          <a:latin typeface="Arial"/>
                          <a:ea typeface="Arial"/>
                          <a:cs typeface="Arial"/>
                        </a:rPr>
                        <a:t>PR-AUC</a:t>
                      </a:r>
                    </a:p>
                  </a:txBody>
                  <a:tcPr marL="91440" marR="91440" marT="45720" marB="45720">
                    <a:solidFill>
                      <a:srgbClr val="172544"/>
                    </a:solidFill>
                  </a:tcPr>
                </a:tc>
                <a:tc>
                  <a:txBody>
                    <a:bodyPr/>
                    <a:lstStyle/>
                    <a:p>
                      <a:r>
                        <a:rPr sz="1725" b="1">
                          <a:solidFill>
                            <a:srgbClr val="FFFFFF"/>
                          </a:solidFill>
                          <a:latin typeface="Arial"/>
                          <a:ea typeface="Arial"/>
                          <a:cs typeface="Arial"/>
                        </a:rPr>
                        <a:t>F1</a:t>
                      </a:r>
                    </a:p>
                  </a:txBody>
                  <a:tcPr marL="91440" marR="91440" marT="45720" marB="45720">
                    <a:solidFill>
                      <a:srgbClr val="172544"/>
                    </a:solidFill>
                  </a:tcPr>
                </a:tc>
                <a:tc>
                  <a:txBody>
                    <a:bodyPr/>
                    <a:lstStyle/>
                    <a:p>
                      <a:r>
                        <a:rPr sz="1725" b="1">
                          <a:solidFill>
                            <a:srgbClr val="FFFFFF"/>
                          </a:solidFill>
                          <a:latin typeface="Arial"/>
                          <a:ea typeface="Arial"/>
                          <a:cs typeface="Arial"/>
                        </a:rPr>
                        <a:t>Brier ↓</a:t>
                      </a:r>
                    </a:p>
                  </a:txBody>
                  <a:tcPr marL="91440" marR="91440" marT="45720" marB="45720">
                    <a:solidFill>
                      <a:srgbClr val="172544"/>
                    </a:solidFill>
                  </a:tcPr>
                </a:tc>
              </a:tr>
              <a:tr h="652463">
                <a:tc>
                  <a:txBody>
                    <a:bodyPr/>
                    <a:lstStyle/>
                    <a:p>
                      <a:r>
                        <a:rPr sz="1725" b="0">
                          <a:solidFill>
                            <a:srgbClr val="273952"/>
                          </a:solidFill>
                          <a:latin typeface="Arial"/>
                          <a:ea typeface="Arial"/>
                          <a:cs typeface="Arial"/>
                        </a:rPr>
                        <a:t>Logistic Regression</a:t>
                      </a:r>
                    </a:p>
                  </a:txBody>
                  <a:tcPr marL="91440" marR="91440" marT="45720" marB="45720">
                    <a:solidFill>
                      <a:srgbClr val="FFFFFF"/>
                    </a:solidFill>
                  </a:tcPr>
                </a:tc>
                <a:tc>
                  <a:txBody>
                    <a:bodyPr/>
                    <a:lstStyle/>
                    <a:p>
                      <a:r>
                        <a:rPr sz="1725" b="0">
                          <a:solidFill>
                            <a:srgbClr val="273952"/>
                          </a:solidFill>
                          <a:latin typeface="Arial"/>
                          <a:ea typeface="Arial"/>
                          <a:cs typeface="Arial"/>
                        </a:rPr>
                        <a:t>0.860</a:t>
                      </a:r>
                    </a:p>
                  </a:txBody>
                  <a:tcPr marL="91440" marR="91440" marT="45720" marB="45720">
                    <a:solidFill>
                      <a:srgbClr val="FFFFFF"/>
                    </a:solidFill>
                  </a:tcPr>
                </a:tc>
                <a:tc>
                  <a:txBody>
                    <a:bodyPr/>
                    <a:lstStyle/>
                    <a:p>
                      <a:r>
                        <a:rPr sz="1725" b="0">
                          <a:solidFill>
                            <a:srgbClr val="273952"/>
                          </a:solidFill>
                          <a:latin typeface="Arial"/>
                          <a:ea typeface="Arial"/>
                          <a:cs typeface="Arial"/>
                        </a:rPr>
                        <a:t>0.837</a:t>
                      </a:r>
                    </a:p>
                  </a:txBody>
                  <a:tcPr marL="91440" marR="91440" marT="45720" marB="45720">
                    <a:solidFill>
                      <a:srgbClr val="FFFFFF"/>
                    </a:solidFill>
                  </a:tcPr>
                </a:tc>
                <a:tc>
                  <a:txBody>
                    <a:bodyPr/>
                    <a:lstStyle/>
                    <a:p>
                      <a:r>
                        <a:rPr sz="1725" b="0">
                          <a:solidFill>
                            <a:srgbClr val="273952"/>
                          </a:solidFill>
                          <a:latin typeface="Arial"/>
                          <a:ea typeface="Arial"/>
                          <a:cs typeface="Arial"/>
                        </a:rPr>
                        <a:t>0.751</a:t>
                      </a:r>
                    </a:p>
                  </a:txBody>
                  <a:tcPr marL="91440" marR="91440" marT="45720" marB="45720">
                    <a:solidFill>
                      <a:srgbClr val="FFFFFF"/>
                    </a:solidFill>
                  </a:tcPr>
                </a:tc>
                <a:tc>
                  <a:txBody>
                    <a:bodyPr/>
                    <a:lstStyle/>
                    <a:p>
                      <a:r>
                        <a:rPr sz="1725" b="0">
                          <a:solidFill>
                            <a:srgbClr val="273952"/>
                          </a:solidFill>
                          <a:latin typeface="Arial"/>
                          <a:ea typeface="Arial"/>
                          <a:cs typeface="Arial"/>
                        </a:rPr>
                        <a:t>0.152</a:t>
                      </a:r>
                    </a:p>
                  </a:txBody>
                  <a:tcPr marL="91440" marR="91440" marT="45720" marB="45720">
                    <a:solidFill>
                      <a:srgbClr val="FFFFFF"/>
                    </a:solidFill>
                  </a:tcPr>
                </a:tc>
              </a:tr>
              <a:tr h="652463">
                <a:tc>
                  <a:txBody>
                    <a:bodyPr/>
                    <a:lstStyle/>
                    <a:p>
                      <a:r>
                        <a:rPr sz="1725" b="0">
                          <a:solidFill>
                            <a:srgbClr val="273952"/>
                          </a:solidFill>
                          <a:latin typeface="Arial"/>
                          <a:ea typeface="Arial"/>
                          <a:cs typeface="Arial"/>
                        </a:rPr>
                        <a:t>Random Forest</a:t>
                      </a:r>
                    </a:p>
                  </a:txBody>
                  <a:tcPr marL="91440" marR="91440" marT="45720" marB="45720">
                    <a:solidFill>
                      <a:srgbClr val="EDF1F8"/>
                    </a:solidFill>
                  </a:tcPr>
                </a:tc>
                <a:tc>
                  <a:txBody>
                    <a:bodyPr/>
                    <a:lstStyle/>
                    <a:p>
                      <a:r>
                        <a:rPr sz="1725" b="0">
                          <a:solidFill>
                            <a:srgbClr val="273952"/>
                          </a:solidFill>
                          <a:latin typeface="Arial"/>
                          <a:ea typeface="Arial"/>
                          <a:cs typeface="Arial"/>
                        </a:rPr>
                        <a:t>0.853</a:t>
                      </a:r>
                    </a:p>
                  </a:txBody>
                  <a:tcPr marL="91440" marR="91440" marT="45720" marB="45720">
                    <a:solidFill>
                      <a:srgbClr val="EDF1F8"/>
                    </a:solidFill>
                  </a:tcPr>
                </a:tc>
                <a:tc>
                  <a:txBody>
                    <a:bodyPr/>
                    <a:lstStyle/>
                    <a:p>
                      <a:r>
                        <a:rPr sz="1725" b="0">
                          <a:solidFill>
                            <a:srgbClr val="273952"/>
                          </a:solidFill>
                          <a:latin typeface="Arial"/>
                          <a:ea typeface="Arial"/>
                          <a:cs typeface="Arial"/>
                        </a:rPr>
                        <a:t>0.803</a:t>
                      </a:r>
                    </a:p>
                  </a:txBody>
                  <a:tcPr marL="91440" marR="91440" marT="45720" marB="45720">
                    <a:solidFill>
                      <a:srgbClr val="EDF1F8"/>
                    </a:solidFill>
                  </a:tcPr>
                </a:tc>
                <a:tc>
                  <a:txBody>
                    <a:bodyPr/>
                    <a:lstStyle/>
                    <a:p>
                      <a:r>
                        <a:rPr sz="1725" b="0">
                          <a:solidFill>
                            <a:srgbClr val="273952"/>
                          </a:solidFill>
                          <a:latin typeface="Arial"/>
                          <a:ea typeface="Arial"/>
                          <a:cs typeface="Arial"/>
                        </a:rPr>
                        <a:t>0.775</a:t>
                      </a:r>
                    </a:p>
                  </a:txBody>
                  <a:tcPr marL="91440" marR="91440" marT="45720" marB="45720">
                    <a:solidFill>
                      <a:srgbClr val="EDF1F8"/>
                    </a:solidFill>
                  </a:tcPr>
                </a:tc>
                <a:tc>
                  <a:txBody>
                    <a:bodyPr/>
                    <a:lstStyle/>
                    <a:p>
                      <a:r>
                        <a:rPr sz="1725" b="0">
                          <a:solidFill>
                            <a:srgbClr val="273952"/>
                          </a:solidFill>
                          <a:latin typeface="Arial"/>
                          <a:ea typeface="Arial"/>
                          <a:cs typeface="Arial"/>
                        </a:rPr>
                        <a:t>0.155</a:t>
                      </a:r>
                    </a:p>
                  </a:txBody>
                  <a:tcPr marL="91440" marR="91440" marT="45720" marB="45720">
                    <a:solidFill>
                      <a:srgbClr val="EDF1F8"/>
                    </a:solidFill>
                  </a:tcPr>
                </a:tc>
              </a:tr>
              <a:tr h="652463">
                <a:tc>
                  <a:txBody>
                    <a:bodyPr/>
                    <a:lstStyle/>
                    <a:p>
                      <a:r>
                        <a:rPr sz="1725" b="0">
                          <a:solidFill>
                            <a:srgbClr val="273952"/>
                          </a:solidFill>
                          <a:latin typeface="Arial"/>
                          <a:ea typeface="Arial"/>
                          <a:cs typeface="Arial"/>
                        </a:rPr>
                        <a:t>XGBoost</a:t>
                      </a:r>
                    </a:p>
                  </a:txBody>
                  <a:tcPr marL="91440" marR="91440" marT="45720" marB="45720">
                    <a:solidFill>
                      <a:srgbClr val="FFFFFF"/>
                    </a:solidFill>
                  </a:tcPr>
                </a:tc>
                <a:tc>
                  <a:txBody>
                    <a:bodyPr/>
                    <a:lstStyle/>
                    <a:p>
                      <a:r>
                        <a:rPr sz="1725" b="0">
                          <a:solidFill>
                            <a:srgbClr val="273952"/>
                          </a:solidFill>
                          <a:latin typeface="Arial"/>
                          <a:ea typeface="Arial"/>
                          <a:cs typeface="Arial"/>
                        </a:rPr>
                        <a:t>0.843</a:t>
                      </a:r>
                    </a:p>
                  </a:txBody>
                  <a:tcPr marL="91440" marR="91440" marT="45720" marB="45720">
                    <a:solidFill>
                      <a:srgbClr val="FFFFFF"/>
                    </a:solidFill>
                  </a:tcPr>
                </a:tc>
                <a:tc>
                  <a:txBody>
                    <a:bodyPr/>
                    <a:lstStyle/>
                    <a:p>
                      <a:r>
                        <a:rPr sz="1725" b="0">
                          <a:solidFill>
                            <a:srgbClr val="273952"/>
                          </a:solidFill>
                          <a:latin typeface="Arial"/>
                          <a:ea typeface="Arial"/>
                          <a:cs typeface="Arial"/>
                        </a:rPr>
                        <a:t>0.803</a:t>
                      </a:r>
                    </a:p>
                  </a:txBody>
                  <a:tcPr marL="91440" marR="91440" marT="45720" marB="45720">
                    <a:solidFill>
                      <a:srgbClr val="FFFFFF"/>
                    </a:solidFill>
                  </a:tcPr>
                </a:tc>
                <a:tc>
                  <a:txBody>
                    <a:bodyPr/>
                    <a:lstStyle/>
                    <a:p>
                      <a:r>
                        <a:rPr sz="1725" b="0">
                          <a:solidFill>
                            <a:srgbClr val="273952"/>
                          </a:solidFill>
                          <a:latin typeface="Arial"/>
                          <a:ea typeface="Arial"/>
                          <a:cs typeface="Arial"/>
                        </a:rPr>
                        <a:t>0.749</a:t>
                      </a:r>
                    </a:p>
                  </a:txBody>
                  <a:tcPr marL="91440" marR="91440" marT="45720" marB="45720">
                    <a:solidFill>
                      <a:srgbClr val="FFFFFF"/>
                    </a:solidFill>
                  </a:tcPr>
                </a:tc>
                <a:tc>
                  <a:txBody>
                    <a:bodyPr/>
                    <a:lstStyle/>
                    <a:p>
                      <a:r>
                        <a:rPr sz="1725" b="0">
                          <a:solidFill>
                            <a:srgbClr val="273952"/>
                          </a:solidFill>
                          <a:latin typeface="Arial"/>
                          <a:ea typeface="Arial"/>
                          <a:cs typeface="Arial"/>
                        </a:rPr>
                        <a:t>0.161</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1A2E335-70D4-4BBC-A2A3-9AC3C2177193}"/>
              </a:ext>
            </a:extLst>
          </p:cNvPr>
          <p:cNvSpPr>
            <a:spLocks xmlns:a="http://schemas.openxmlformats.org/drawingml/2006/main" noGrp="1"/>
          </p:cNvSpPr>
          <p:nvPr/>
        </p:nvSpPr>
        <p:spPr>
          <a:xfrm xmlns:a="http://schemas.openxmlformats.org/drawingml/2006/main">
            <a:off x="609600" y="492442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4C50BE"/>
                </a:solidFill>
                <a:latin typeface="Arial"/>
                <a:ea typeface="Arial"/>
                <a:cs typeface="Arial"/>
              </a:defRPr>
            </a:defPPr>
          </a:lstStyle>
          <a:p xmlns:a="http://schemas.openxmlformats.org/drawingml/2006/main">
            <a:pPr>
              <a:defRPr sz="2325" b="1">
                <a:solidFill>
                  <a:srgbClr val="4C50BE"/>
                </a:solidFill>
                <a:latin typeface="Arial"/>
                <a:ea typeface="Arial"/>
                <a:cs typeface="Arial"/>
              </a:defRPr>
            </a:pPr>
            <a:r>
              <a:rPr sz="2325" b="1">
                <a:solidFill>
                  <a:srgbClr val="4C50BE"/>
                </a:solidFill>
                <a:latin typeface="Arial"/>
                <a:ea typeface="Arial"/>
                <a:cs typeface="Arial"/>
              </a:rPr>
              <a:t>Logistic Regression</a:t>
            </a:r>
          </a:p>
        </p:txBody>
      </p:sp>
      <p:sp>
        <p:nvSpPr>
          <p:cNvPr id="7" name="">
            <a:extLst xmlns:a="http://schemas.openxmlformats.org/drawingml/2006/main">
              <a:ext uri="{FF2B5EF4-FFF2-40B4-BE49-F238E27FC236}">
                <a16:creationId xmlns:a16="http://schemas.microsoft.com/office/drawing/2014/main" id="{DA8C39AA-DD92-474F-9C25-4A48603DC65E}"/>
              </a:ext>
            </a:extLst>
          </p:cNvPr>
          <p:cNvSpPr>
            <a:spLocks xmlns:a="http://schemas.openxmlformats.org/drawingml/2006/main" noGrp="1"/>
          </p:cNvSpPr>
          <p:nvPr/>
        </p:nvSpPr>
        <p:spPr>
          <a:xfrm xmlns:a="http://schemas.openxmlformats.org/drawingml/2006/main">
            <a:off x="609600" y="54197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73952"/>
                </a:solidFill>
                <a:latin typeface="Arial"/>
                <a:ea typeface="Arial"/>
                <a:cs typeface="Arial"/>
              </a:defRPr>
            </a:defPPr>
          </a:lstStyle>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Best test ranking and lowest Brier among these candidates</a:t>
            </a:r>
          </a:p>
        </p:txBody>
      </p:sp>
      <p:sp>
        <p:nvSpPr>
          <p:cNvPr id="8" name="">
            <a:extLst xmlns:a="http://schemas.openxmlformats.org/drawingml/2006/main">
              <a:ext uri="{FF2B5EF4-FFF2-40B4-BE49-F238E27FC236}">
                <a16:creationId xmlns:a16="http://schemas.microsoft.com/office/drawing/2014/main" id="{E40CB562-1880-4CAF-82FF-9A35FECD1988}"/>
              </a:ext>
            </a:extLst>
          </p:cNvPr>
          <p:cNvSpPr>
            <a:spLocks xmlns:a="http://schemas.openxmlformats.org/drawingml/2006/main" noGrp="1"/>
          </p:cNvSpPr>
          <p:nvPr/>
        </p:nvSpPr>
        <p:spPr>
          <a:xfrm xmlns:a="http://schemas.openxmlformats.org/drawingml/2006/main">
            <a:off x="6438900" y="492442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37D80"/>
                </a:solidFill>
                <a:latin typeface="Arial"/>
                <a:ea typeface="Arial"/>
                <a:cs typeface="Arial"/>
              </a:defRPr>
            </a:defPPr>
          </a:lstStyle>
          <a:p xmlns:a="http://schemas.openxmlformats.org/drawingml/2006/main">
            <a:pPr>
              <a:defRPr sz="2325" b="1">
                <a:solidFill>
                  <a:srgbClr val="137D80"/>
                </a:solidFill>
                <a:latin typeface="Arial"/>
                <a:ea typeface="Arial"/>
                <a:cs typeface="Arial"/>
              </a:defRPr>
            </a:pPr>
            <a:r>
              <a:rPr sz="2325" b="1">
                <a:solidFill>
                  <a:srgbClr val="137D80"/>
                </a:solidFill>
                <a:latin typeface="Arial"/>
                <a:ea typeface="Arial"/>
                <a:cs typeface="Arial"/>
              </a:rPr>
              <a:t>Random Forest</a:t>
            </a:r>
          </a:p>
        </p:txBody>
      </p:sp>
      <p:sp>
        <p:nvSpPr>
          <p:cNvPr id="9" name="">
            <a:extLst xmlns:a="http://schemas.openxmlformats.org/drawingml/2006/main">
              <a:ext uri="{FF2B5EF4-FFF2-40B4-BE49-F238E27FC236}">
                <a16:creationId xmlns:a16="http://schemas.microsoft.com/office/drawing/2014/main" id="{9A6F2AF1-C352-4C55-A269-AA38510B4726}"/>
              </a:ext>
            </a:extLst>
          </p:cNvPr>
          <p:cNvSpPr>
            <a:spLocks xmlns:a="http://schemas.openxmlformats.org/drawingml/2006/main" noGrp="1"/>
          </p:cNvSpPr>
          <p:nvPr/>
        </p:nvSpPr>
        <p:spPr>
          <a:xfrm xmlns:a="http://schemas.openxmlformats.org/drawingml/2006/main">
            <a:off x="6438900" y="54197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73952"/>
                </a:solidFill>
                <a:latin typeface="Arial"/>
                <a:ea typeface="Arial"/>
                <a:cs typeface="Arial"/>
              </a:defRPr>
            </a:defPPr>
          </a:lstStyle>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Highest F1 at the fixed 0.30 classification threshold</a:t>
            </a:r>
          </a:p>
        </p:txBody>
      </p:sp>
    </p:spTree>
    <p:extLst>
      <p:ext uri="{BB962C8B-B14F-4D97-AF65-F5344CB8AC3E}">
        <p14:creationId xmlns:p14="http://schemas.microsoft.com/office/powerpoint/2010/main" val="486778166"/>
      </p:ext>
    </p:extLst>
  </p:cSld>
</p:sld>
</file>

<file path=ppt/slides/slide1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A172A1B-7F5F-478A-873D-BA6BFE29F29F}"/>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TECHNICAL</a:t>
            </a:r>
          </a:p>
        </p:txBody>
      </p:sp>
      <p:sp>
        <p:nvSpPr>
          <p:cNvPr id="2" name="">
            <a:extLst xmlns:a="http://schemas.openxmlformats.org/drawingml/2006/main">
              <a:ext uri="{FF2B5EF4-FFF2-40B4-BE49-F238E27FC236}">
                <a16:creationId xmlns:a16="http://schemas.microsoft.com/office/drawing/2014/main" id="{BF026D43-62E9-4E6A-9026-E2AB621A9EEC}"/>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Error analysis</a:t>
            </a:r>
          </a:p>
        </p:txBody>
      </p:sp>
      <p:sp>
        <p:nvSpPr>
          <p:cNvPr id="3" name="">
            <a:extLst xmlns:a="http://schemas.openxmlformats.org/drawingml/2006/main">
              <a:ext uri="{FF2B5EF4-FFF2-40B4-BE49-F238E27FC236}">
                <a16:creationId xmlns:a16="http://schemas.microsoft.com/office/drawing/2014/main" id="{EDDE6B0D-30E1-43FB-A36F-21049E780A5F}"/>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7D0AA2BF-867B-4B51-B500-3068324C950D}"/>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11</a:t>
            </a:r>
          </a:p>
        </p:txBody>
      </p:sp>
      <p:graphicFrame>
        <p:nvGraphicFramePr>
          <p:cNvPr id="5" name="Chart">
            <a:extLst xmlns:a="http://schemas.openxmlformats.org/drawingml/2006/main">
              <a:ext uri="{FF2B5EF4-FFF2-40B4-BE49-F238E27FC236}">
                <a16:creationId xmlns:a16="http://schemas.microsoft.com/office/drawing/2014/main" id="{6E5262F1-C891-49C0-BB95-5E3B9F18EB1E}"/>
              </a:ext>
            </a:extLst>
          </p:cNvPr>
          <p:cNvGraphicFramePr/>
          <p:nvPr/>
        </p:nvGraphicFramePr>
        <p:xfrm>
          <a:off xmlns:a="http://schemas.openxmlformats.org/drawingml/2006/main" x="609600" y="1762125"/>
          <a:ext xmlns:a="http://schemas.openxmlformats.org/drawingml/2006/main" cx="6667500" cy="3524250"/>
        </p:xfrm>
        <a:graphic xmlns:a="http://schemas.openxmlformats.org/drawingml/2006/main">
          <a:graphicData uri="http://schemas.openxmlformats.org/drawingml/2006/chart">
            <c:chart xmlns:r="http://schemas.openxmlformats.org/officeDocument/2006/relationships" xmlns:c="http://schemas.openxmlformats.org/drawingml/2006/chart" r:id="R231060566a1c40d7"/>
          </a:graphicData>
        </a:graphic>
      </p:graphicFrame>
      <p:graphicFrame>
        <p:nvGraphicFramePr>
          <p:cNvPr id="6" name="">
            <a:extLst xmlns:a="http://schemas.openxmlformats.org/drawingml/2006/main">
              <a:ext uri="{FF2B5EF4-FFF2-40B4-BE49-F238E27FC236}">
                <a16:creationId xmlns:a16="http://schemas.microsoft.com/office/drawing/2014/main" id="{D76AF0F8-7858-4FB9-AF4D-214CD82D32CB}"/>
              </a:ext>
            </a:extLst>
          </p:cNvPr>
          <p:cNvGraphicFramePr/>
          <p:nvPr/>
        </p:nvGraphicFramePr>
        <p:xfrm>
          <a:off xmlns:a="http://schemas.openxmlformats.org/drawingml/2006/main" x="7677150" y="1819275"/>
          <a:ext xmlns:a="http://schemas.openxmlformats.org/drawingml/2006/main" cx="3905250" cy="1905000"/>
        </p:xfrm>
        <a:graphic xmlns:a="http://schemas.openxmlformats.org/drawingml/2006/main">
          <a:graphicData uri="http://schemas.openxmlformats.org/drawingml/2006/table">
            <a:tbl>
              <a:tblPr/>
              <a:tblGrid>
                <a:gridCol w="1619250"/>
                <a:gridCol w="1143000"/>
                <a:gridCol w="1143000"/>
              </a:tblGrid>
              <a:tr h="635000">
                <a:tc>
                  <a:txBody>
                    <a:bodyPr/>
                    <a:lstStyle/>
                    <a:p>
                      <a:r>
                        <a:rPr sz="1725" b="1">
                          <a:solidFill>
                            <a:srgbClr val="FFFFFF"/>
                          </a:solidFill>
                          <a:latin typeface="Arial"/>
                          <a:ea typeface="Arial"/>
                          <a:cs typeface="Arial"/>
                        </a:rPr>
                        <a:t>Logistic at 0.30</a:t>
                      </a:r>
                    </a:p>
                  </a:txBody>
                  <a:tcPr marL="91440" marR="91440" marT="45720" marB="45720">
                    <a:solidFill>
                      <a:srgbClr val="172544"/>
                    </a:solidFill>
                  </a:tcPr>
                </a:tc>
                <a:tc>
                  <a:txBody>
                    <a:bodyPr/>
                    <a:lstStyle/>
                    <a:p>
                      <a:r>
                        <a:rPr sz="1725" b="1">
                          <a:solidFill>
                            <a:srgbClr val="FFFFFF"/>
                          </a:solidFill>
                          <a:latin typeface="Arial"/>
                          <a:ea typeface="Arial"/>
                          <a:cs typeface="Arial"/>
                        </a:rPr>
                        <a:t>Pred. 0</a:t>
                      </a:r>
                    </a:p>
                  </a:txBody>
                  <a:tcPr marL="91440" marR="91440" marT="45720" marB="45720">
                    <a:solidFill>
                      <a:srgbClr val="172544"/>
                    </a:solidFill>
                  </a:tcPr>
                </a:tc>
                <a:tc>
                  <a:txBody>
                    <a:bodyPr/>
                    <a:lstStyle/>
                    <a:p>
                      <a:r>
                        <a:rPr sz="1725" b="1">
                          <a:solidFill>
                            <a:srgbClr val="FFFFFF"/>
                          </a:solidFill>
                          <a:latin typeface="Arial"/>
                          <a:ea typeface="Arial"/>
                          <a:cs typeface="Arial"/>
                        </a:rPr>
                        <a:t>Pred. 1</a:t>
                      </a:r>
                    </a:p>
                  </a:txBody>
                  <a:tcPr marL="91440" marR="91440" marT="45720" marB="45720">
                    <a:solidFill>
                      <a:srgbClr val="172544"/>
                    </a:solidFill>
                  </a:tcPr>
                </a:tc>
              </a:tr>
              <a:tr h="635000">
                <a:tc>
                  <a:txBody>
                    <a:bodyPr/>
                    <a:lstStyle/>
                    <a:p>
                      <a:r>
                        <a:rPr sz="1725" b="0">
                          <a:solidFill>
                            <a:srgbClr val="273952"/>
                          </a:solidFill>
                          <a:latin typeface="Arial"/>
                          <a:ea typeface="Arial"/>
                          <a:cs typeface="Arial"/>
                        </a:rPr>
                        <a:t>Actual 0</a:t>
                      </a:r>
                    </a:p>
                  </a:txBody>
                  <a:tcPr marL="91440" marR="91440" marT="45720" marB="45720">
                    <a:solidFill>
                      <a:srgbClr val="FFFFFF"/>
                    </a:solidFill>
                  </a:tcPr>
                </a:tc>
                <a:tc>
                  <a:txBody>
                    <a:bodyPr/>
                    <a:lstStyle/>
                    <a:p>
                      <a:r>
                        <a:rPr sz="1725" b="0">
                          <a:solidFill>
                            <a:srgbClr val="273952"/>
                          </a:solidFill>
                          <a:latin typeface="Arial"/>
                          <a:ea typeface="Arial"/>
                          <a:cs typeface="Arial"/>
                        </a:rPr>
                        <a:t>119</a:t>
                      </a:r>
                    </a:p>
                  </a:txBody>
                  <a:tcPr marL="91440" marR="91440" marT="45720" marB="45720">
                    <a:solidFill>
                      <a:srgbClr val="FFFFFF"/>
                    </a:solidFill>
                  </a:tcPr>
                </a:tc>
                <a:tc>
                  <a:txBody>
                    <a:bodyPr/>
                    <a:lstStyle/>
                    <a:p>
                      <a:r>
                        <a:rPr sz="1725" b="0">
                          <a:solidFill>
                            <a:srgbClr val="273952"/>
                          </a:solidFill>
                          <a:latin typeface="Arial"/>
                          <a:ea typeface="Arial"/>
                          <a:cs typeface="Arial"/>
                        </a:rPr>
                        <a:t>77</a:t>
                      </a:r>
                    </a:p>
                  </a:txBody>
                  <a:tcPr marL="91440" marR="91440" marT="45720" marB="45720">
                    <a:solidFill>
                      <a:srgbClr val="FFFFFF"/>
                    </a:solidFill>
                  </a:tcPr>
                </a:tc>
              </a:tr>
              <a:tr h="635000">
                <a:tc>
                  <a:txBody>
                    <a:bodyPr/>
                    <a:lstStyle/>
                    <a:p>
                      <a:r>
                        <a:rPr sz="1725" b="0">
                          <a:solidFill>
                            <a:srgbClr val="273952"/>
                          </a:solidFill>
                          <a:latin typeface="Arial"/>
                          <a:ea typeface="Arial"/>
                          <a:cs typeface="Arial"/>
                        </a:rPr>
                        <a:t>Actual 1</a:t>
                      </a:r>
                    </a:p>
                  </a:txBody>
                  <a:tcPr marL="91440" marR="91440" marT="45720" marB="45720">
                    <a:solidFill>
                      <a:srgbClr val="EDF1F8"/>
                    </a:solidFill>
                  </a:tcPr>
                </a:tc>
                <a:tc>
                  <a:txBody>
                    <a:bodyPr/>
                    <a:lstStyle/>
                    <a:p>
                      <a:r>
                        <a:rPr sz="1725" b="0">
                          <a:solidFill>
                            <a:srgbClr val="273952"/>
                          </a:solidFill>
                          <a:latin typeface="Arial"/>
                          <a:ea typeface="Arial"/>
                          <a:cs typeface="Arial"/>
                        </a:rPr>
                        <a:t>19</a:t>
                      </a:r>
                    </a:p>
                  </a:txBody>
                  <a:tcPr marL="91440" marR="91440" marT="45720" marB="45720">
                    <a:solidFill>
                      <a:srgbClr val="EDF1F8"/>
                    </a:solidFill>
                  </a:tcPr>
                </a:tc>
                <a:tc>
                  <a:txBody>
                    <a:bodyPr/>
                    <a:lstStyle/>
                    <a:p>
                      <a:r>
                        <a:rPr sz="1725" b="0">
                          <a:solidFill>
                            <a:srgbClr val="273952"/>
                          </a:solidFill>
                          <a:latin typeface="Arial"/>
                          <a:ea typeface="Arial"/>
                          <a:cs typeface="Arial"/>
                        </a:rPr>
                        <a:t>145</a:t>
                      </a:r>
                    </a:p>
                  </a:txBody>
                  <a:tcPr marL="91440" marR="91440" marT="45720" marB="45720">
                    <a:solidFill>
                      <a:srgbClr val="EDF1F8"/>
                    </a:solidFill>
                  </a:tcPr>
                </a:tc>
              </a:tr>
            </a:tbl>
          </a:graphicData>
        </a:graphic>
      </p:graphicFrame>
      <p:sp>
        <p:nvSpPr>
          <p:cNvPr id="7" name="">
            <a:extLst xmlns:a="http://schemas.openxmlformats.org/drawingml/2006/main">
              <a:ext uri="{FF2B5EF4-FFF2-40B4-BE49-F238E27FC236}">
                <a16:creationId xmlns:a16="http://schemas.microsoft.com/office/drawing/2014/main" id="{2D5AC0F5-18E9-4CCC-8C45-9661FEB34077}"/>
              </a:ext>
            </a:extLst>
          </p:cNvPr>
          <p:cNvSpPr>
            <a:spLocks xmlns:a="http://schemas.openxmlformats.org/drawingml/2006/main" noGrp="1"/>
          </p:cNvSpPr>
          <p:nvPr/>
        </p:nvSpPr>
        <p:spPr>
          <a:xfrm xmlns:a="http://schemas.openxmlformats.org/drawingml/2006/main">
            <a:off x="7677150" y="38766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27187"/>
                </a:solidFill>
                <a:latin typeface="Arial"/>
                <a:ea typeface="Arial"/>
                <a:cs typeface="Arial"/>
              </a:defRPr>
            </a:defPPr>
          </a:lstStyle>
          <a:p xmlns:a="http://schemas.openxmlformats.org/drawingml/2006/main">
            <a:pPr>
              <a:defRPr sz="1650" b="0">
                <a:solidFill>
                  <a:srgbClr val="627187"/>
                </a:solidFill>
                <a:latin typeface="Arial"/>
                <a:ea typeface="Arial"/>
                <a:cs typeface="Arial"/>
              </a:defRPr>
            </a:pPr>
            <a:r>
              <a:rPr sz="1650" b="0">
                <a:solidFill>
                  <a:srgbClr val="627187"/>
                </a:solidFill>
                <a:latin typeface="Arial"/>
                <a:ea typeface="Arial"/>
                <a:cs typeface="Arial"/>
              </a:rPr>
              <a:t>0 = non-default, 1 = default</a:t>
            </a:r>
          </a:p>
        </p:txBody>
      </p:sp>
      <p:sp>
        <p:nvSpPr>
          <p:cNvPr id="8" name="">
            <a:extLst xmlns:a="http://schemas.openxmlformats.org/drawingml/2006/main">
              <a:ext uri="{FF2B5EF4-FFF2-40B4-BE49-F238E27FC236}">
                <a16:creationId xmlns:a16="http://schemas.microsoft.com/office/drawing/2014/main" id="{FB49FBC7-A5F9-4EA7-931C-B40B1EB7F4B2}"/>
              </a:ext>
            </a:extLst>
          </p:cNvPr>
          <p:cNvSpPr>
            <a:spLocks xmlns:a="http://schemas.openxmlformats.org/drawingml/2006/main" noGrp="1"/>
          </p:cNvSpPr>
          <p:nvPr/>
        </p:nvSpPr>
        <p:spPr>
          <a:xfrm xmlns:a="http://schemas.openxmlformats.org/drawingml/2006/main">
            <a:off x="7677150" y="4333875"/>
            <a:ext cx="3905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37D80"/>
                </a:solidFill>
                <a:latin typeface="Arial"/>
                <a:ea typeface="Arial"/>
                <a:cs typeface="Arial"/>
              </a:defRPr>
            </a:defPPr>
          </a:lstStyle>
          <a:p xmlns:a="http://schemas.openxmlformats.org/drawingml/2006/main">
            <a:pPr>
              <a:defRPr sz="2475" b="1">
                <a:solidFill>
                  <a:srgbClr val="137D80"/>
                </a:solidFill>
                <a:latin typeface="Arial"/>
                <a:ea typeface="Arial"/>
                <a:cs typeface="Arial"/>
              </a:defRPr>
            </a:pPr>
            <a:r>
              <a:rPr sz="2475" b="1">
                <a:solidFill>
                  <a:srgbClr val="137D80"/>
                </a:solidFill>
                <a:latin typeface="Arial"/>
                <a:ea typeface="Arial"/>
                <a:cs typeface="Arial"/>
              </a:rPr>
              <a:t>88.4% recall</a:t>
            </a:r>
          </a:p>
        </p:txBody>
      </p:sp>
      <p:sp>
        <p:nvSpPr>
          <p:cNvPr id="9" name="">
            <a:extLst xmlns:a="http://schemas.openxmlformats.org/drawingml/2006/main">
              <a:ext uri="{FF2B5EF4-FFF2-40B4-BE49-F238E27FC236}">
                <a16:creationId xmlns:a16="http://schemas.microsoft.com/office/drawing/2014/main" id="{30F94BC4-7478-48FD-8A0D-C84F5ED5B13D}"/>
              </a:ext>
            </a:extLst>
          </p:cNvPr>
          <p:cNvSpPr>
            <a:spLocks xmlns:a="http://schemas.openxmlformats.org/drawingml/2006/main" noGrp="1"/>
          </p:cNvSpPr>
          <p:nvPr/>
        </p:nvSpPr>
        <p:spPr>
          <a:xfrm xmlns:a="http://schemas.openxmlformats.org/drawingml/2006/main">
            <a:off x="7677150" y="4886325"/>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73952"/>
                </a:solidFill>
                <a:latin typeface="Arial"/>
                <a:ea typeface="Arial"/>
                <a:cs typeface="Arial"/>
              </a:defRPr>
            </a:defPPr>
          </a:lstStyle>
          <a:p xmlns:a="http://schemas.openxmlformats.org/drawingml/2006/main">
            <a:pPr>
              <a:defRPr sz="2025" b="0">
                <a:solidFill>
                  <a:srgbClr val="273952"/>
                </a:solidFill>
                <a:latin typeface="Arial"/>
                <a:ea typeface="Arial"/>
                <a:cs typeface="Arial"/>
              </a:defRPr>
            </a:pPr>
            <a:r>
              <a:rPr sz="2025" b="0">
                <a:solidFill>
                  <a:srgbClr val="273952"/>
                </a:solidFill>
                <a:latin typeface="Arial"/>
                <a:ea typeface="Arial"/>
                <a:cs typeface="Arial"/>
              </a:rPr>
              <a:t>65.3% precision</a:t>
            </a:r>
          </a:p>
        </p:txBody>
      </p:sp>
      <p:sp>
        <p:nvSpPr>
          <p:cNvPr id="10" name="">
            <a:extLst xmlns:a="http://schemas.openxmlformats.org/drawingml/2006/main">
              <a:ext uri="{FF2B5EF4-FFF2-40B4-BE49-F238E27FC236}">
                <a16:creationId xmlns:a16="http://schemas.microsoft.com/office/drawing/2014/main" id="{67F4CF91-200C-4C7C-9AE7-40961CB3CF7D}"/>
              </a:ext>
            </a:extLst>
          </p:cNvPr>
          <p:cNvSpPr>
            <a:spLocks xmlns:a="http://schemas.openxmlformats.org/drawingml/2006/main" noGrp="1"/>
          </p:cNvSpPr>
          <p:nvPr/>
        </p:nvSpPr>
        <p:spPr>
          <a:xfrm xmlns:a="http://schemas.openxmlformats.org/drawingml/2006/main">
            <a:off x="609600" y="56483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544"/>
                </a:solidFill>
                <a:latin typeface="Arial"/>
                <a:ea typeface="Arial"/>
                <a:cs typeface="Arial"/>
              </a:defRPr>
            </a:defPPr>
          </a:lstStyle>
          <a:p xmlns:a="http://schemas.openxmlformats.org/drawingml/2006/main">
            <a:pPr>
              <a:defRPr sz="2025" b="1">
                <a:solidFill>
                  <a:srgbClr val="172544"/>
                </a:solidFill>
                <a:latin typeface="Arial"/>
                <a:ea typeface="Arial"/>
                <a:cs typeface="Arial"/>
              </a:defRPr>
            </a:pPr>
            <a:r>
              <a:rPr sz="2025" b="1">
                <a:solidFill>
                  <a:srgbClr val="172544"/>
                </a:solidFill>
                <a:latin typeface="Arial"/>
                <a:ea typeface="Arial"/>
                <a:cs typeface="Arial"/>
              </a:rPr>
              <a:t>False positives can restrict credit. False negatives can miss defaults.</a:t>
            </a:r>
          </a:p>
        </p:txBody>
      </p:sp>
      <p:sp>
        <p:nvSpPr>
          <p:cNvPr id="11" name="">
            <a:extLst xmlns:a="http://schemas.openxmlformats.org/drawingml/2006/main">
              <a:ext uri="{FF2B5EF4-FFF2-40B4-BE49-F238E27FC236}">
                <a16:creationId xmlns:a16="http://schemas.microsoft.com/office/drawing/2014/main" id="{45D3EEFC-5741-4409-9ED6-B1A95813BCA3}"/>
              </a:ext>
            </a:extLst>
          </p:cNvPr>
          <p:cNvSpPr>
            <a:spLocks xmlns:a="http://schemas.openxmlformats.org/drawingml/2006/main" noGrp="1"/>
          </p:cNvSpPr>
          <p:nvPr/>
        </p:nvSpPr>
        <p:spPr>
          <a:xfrm xmlns:a="http://schemas.openxmlformats.org/drawingml/2006/main">
            <a:off x="609600" y="60388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27187"/>
                </a:solidFill>
                <a:latin typeface="Arial"/>
                <a:ea typeface="Arial"/>
                <a:cs typeface="Arial"/>
              </a:defRPr>
            </a:defPPr>
          </a:lstStyle>
          <a:p xmlns:a="http://schemas.openxmlformats.org/drawingml/2006/main">
            <a:pPr>
              <a:defRPr sz="1650" b="0">
                <a:solidFill>
                  <a:srgbClr val="627187"/>
                </a:solidFill>
                <a:latin typeface="Arial"/>
                <a:ea typeface="Arial"/>
                <a:cs typeface="Arial"/>
              </a:defRPr>
            </a:pPr>
            <a:r>
              <a:rPr sz="1650" b="0">
                <a:solidFill>
                  <a:srgbClr val="627187"/>
                </a:solidFill>
                <a:latin typeface="Arial"/>
                <a:ea typeface="Arial"/>
                <a:cs typeface="Arial"/>
              </a:rPr>
              <a:t>The threshold remains educational until real outcome costs are available.</a:t>
            </a:r>
          </a:p>
        </p:txBody>
      </p:sp>
    </p:spTree>
    <p:extLst>
      <p:ext uri="{BB962C8B-B14F-4D97-AF65-F5344CB8AC3E}">
        <p14:creationId xmlns:p14="http://schemas.microsoft.com/office/powerpoint/2010/main" val="735980903"/>
      </p:ext>
    </p:extLst>
  </p:cSld>
</p:sld>
</file>

<file path=ppt/slides/slide1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5374E86-C5E1-414B-AE76-5950107176B5}"/>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TECHNICAL</a:t>
            </a:r>
          </a:p>
        </p:txBody>
      </p:sp>
      <p:sp>
        <p:nvSpPr>
          <p:cNvPr id="2" name="">
            <a:extLst xmlns:a="http://schemas.openxmlformats.org/drawingml/2006/main">
              <a:ext uri="{FF2B5EF4-FFF2-40B4-BE49-F238E27FC236}">
                <a16:creationId xmlns:a16="http://schemas.microsoft.com/office/drawing/2014/main" id="{5E73CDB1-19D7-4825-8C23-7E69E4D4434A}"/>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Explainability and human decisions</a:t>
            </a:r>
          </a:p>
        </p:txBody>
      </p:sp>
      <p:sp>
        <p:nvSpPr>
          <p:cNvPr id="3" name="">
            <a:extLst xmlns:a="http://schemas.openxmlformats.org/drawingml/2006/main">
              <a:ext uri="{FF2B5EF4-FFF2-40B4-BE49-F238E27FC236}">
                <a16:creationId xmlns:a16="http://schemas.microsoft.com/office/drawing/2014/main" id="{B28FA0C5-5B6B-493C-B9F5-A0E48148FFB4}"/>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6C4AF1C4-8FCF-49F0-A157-1760A9B0BEBD}"/>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9475CE5D-3966-4CE3-9CCF-635DA53C8E29}"/>
              </a:ext>
            </a:extLst>
          </p:cNvPr>
          <p:cNvSpPr>
            <a:spLocks xmlns:a="http://schemas.openxmlformats.org/drawingml/2006/main" noGrp="1"/>
          </p:cNvSpPr>
          <p:nvPr/>
        </p:nvSpPr>
        <p:spPr>
          <a:xfrm xmlns:a="http://schemas.openxmlformats.org/drawingml/2006/main">
            <a:off x="609600" y="1771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4C50BE"/>
                </a:solidFill>
                <a:latin typeface="Arial"/>
                <a:ea typeface="Arial"/>
                <a:cs typeface="Arial"/>
              </a:defRPr>
            </a:defPPr>
          </a:lstStyle>
          <a:p xmlns:a="http://schemas.openxmlformats.org/drawingml/2006/main">
            <a:pPr>
              <a:defRPr sz="2925" b="1">
                <a:solidFill>
                  <a:srgbClr val="4C50BE"/>
                </a:solidFill>
                <a:latin typeface="Arial"/>
                <a:ea typeface="Arial"/>
                <a:cs typeface="Arial"/>
              </a:defRPr>
            </a:pPr>
            <a:r>
              <a:rPr sz="2925" b="1">
                <a:solidFill>
                  <a:srgbClr val="4C50BE"/>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0F1BBF1A-1C9A-4738-993E-12B036A331F0}"/>
              </a:ext>
            </a:extLst>
          </p:cNvPr>
          <p:cNvSpPr>
            <a:spLocks xmlns:a="http://schemas.openxmlformats.org/drawingml/2006/main" noGrp="1"/>
          </p:cNvSpPr>
          <p:nvPr/>
        </p:nvSpPr>
        <p:spPr>
          <a:xfrm xmlns:a="http://schemas.openxmlformats.org/drawingml/2006/main">
            <a:off x="1428750" y="1771650"/>
            <a:ext cx="990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544"/>
                </a:solidFill>
                <a:latin typeface="Arial"/>
                <a:ea typeface="Arial"/>
                <a:cs typeface="Arial"/>
              </a:defRPr>
            </a:defPPr>
          </a:lstStyle>
          <a:p xmlns:a="http://schemas.openxmlformats.org/drawingml/2006/main">
            <a:pPr>
              <a:defRPr sz="2175" b="1">
                <a:solidFill>
                  <a:srgbClr val="172544"/>
                </a:solidFill>
                <a:latin typeface="Arial"/>
                <a:ea typeface="Arial"/>
                <a:cs typeface="Arial"/>
              </a:defRPr>
            </a:pPr>
            <a:r>
              <a:rPr sz="2175" b="1">
                <a:solidFill>
                  <a:srgbClr val="172544"/>
                </a:solidFill>
                <a:latin typeface="Arial"/>
                <a:ea typeface="Arial"/>
                <a:cs typeface="Arial"/>
              </a:rPr>
              <a:t>Model assessment</a:t>
            </a:r>
          </a:p>
        </p:txBody>
      </p:sp>
      <p:sp>
        <p:nvSpPr>
          <p:cNvPr id="7" name="">
            <a:extLst xmlns:a="http://schemas.openxmlformats.org/drawingml/2006/main">
              <a:ext uri="{FF2B5EF4-FFF2-40B4-BE49-F238E27FC236}">
                <a16:creationId xmlns:a16="http://schemas.microsoft.com/office/drawing/2014/main" id="{1AAD663E-79B2-426C-924B-2113C827628E}"/>
              </a:ext>
            </a:extLst>
          </p:cNvPr>
          <p:cNvSpPr>
            <a:spLocks xmlns:a="http://schemas.openxmlformats.org/drawingml/2006/main" noGrp="1"/>
          </p:cNvSpPr>
          <p:nvPr/>
        </p:nvSpPr>
        <p:spPr>
          <a:xfrm xmlns:a="http://schemas.openxmlformats.org/drawingml/2006/main">
            <a:off x="1428750" y="220980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187"/>
                </a:solidFill>
                <a:latin typeface="Arial"/>
                <a:ea typeface="Arial"/>
                <a:cs typeface="Arial"/>
              </a:defRPr>
            </a:defPPr>
          </a:lstStyle>
          <a:p xmlns:a="http://schemas.openxmlformats.org/drawingml/2006/main">
            <a:pPr>
              <a:defRPr sz="1875" b="0">
                <a:solidFill>
                  <a:srgbClr val="627187"/>
                </a:solidFill>
                <a:latin typeface="Arial"/>
                <a:ea typeface="Arial"/>
                <a:cs typeface="Arial"/>
              </a:defRPr>
            </a:pPr>
            <a:r>
              <a:rPr sz="1875" b="0">
                <a:solidFill>
                  <a:srgbClr val="627187"/>
                </a:solidFill>
                <a:latin typeface="Arial"/>
                <a:ea typeface="Arial"/>
                <a:cs typeface="Arial"/>
              </a:rPr>
              <a:t>Versioned probability estimate with feature-level SHAP contributions</a:t>
            </a:r>
          </a:p>
        </p:txBody>
      </p:sp>
      <p:sp>
        <p:nvSpPr>
          <p:cNvPr id="8" name="">
            <a:extLst xmlns:a="http://schemas.openxmlformats.org/drawingml/2006/main">
              <a:ext uri="{FF2B5EF4-FFF2-40B4-BE49-F238E27FC236}">
                <a16:creationId xmlns:a16="http://schemas.microsoft.com/office/drawing/2014/main" id="{1F2C39FF-28C6-4A3E-96FD-CC5CEA30E05F}"/>
              </a:ext>
            </a:extLst>
          </p:cNvPr>
          <p:cNvSpPr>
            <a:spLocks xmlns:a="http://schemas.openxmlformats.org/drawingml/2006/main" noGrp="1"/>
          </p:cNvSpPr>
          <p:nvPr/>
        </p:nvSpPr>
        <p:spPr>
          <a:xfrm xmlns:a="http://schemas.openxmlformats.org/drawingml/2006/main">
            <a:off x="609600" y="31242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4C50BE"/>
                </a:solidFill>
                <a:latin typeface="Arial"/>
                <a:ea typeface="Arial"/>
                <a:cs typeface="Arial"/>
              </a:defRPr>
            </a:defPPr>
          </a:lstStyle>
          <a:p xmlns:a="http://schemas.openxmlformats.org/drawingml/2006/main">
            <a:pPr>
              <a:defRPr sz="2925" b="1">
                <a:solidFill>
                  <a:srgbClr val="4C50BE"/>
                </a:solidFill>
                <a:latin typeface="Arial"/>
                <a:ea typeface="Arial"/>
                <a:cs typeface="Arial"/>
              </a:defRPr>
            </a:pPr>
            <a:r>
              <a:rPr sz="2925" b="1">
                <a:solidFill>
                  <a:srgbClr val="4C50BE"/>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3F59E53D-0C25-43D7-B2A2-EA5DDF5CA7CF}"/>
              </a:ext>
            </a:extLst>
          </p:cNvPr>
          <p:cNvSpPr>
            <a:spLocks xmlns:a="http://schemas.openxmlformats.org/drawingml/2006/main" noGrp="1"/>
          </p:cNvSpPr>
          <p:nvPr/>
        </p:nvSpPr>
        <p:spPr>
          <a:xfrm xmlns:a="http://schemas.openxmlformats.org/drawingml/2006/main">
            <a:off x="1428750" y="3124200"/>
            <a:ext cx="990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544"/>
                </a:solidFill>
                <a:latin typeface="Arial"/>
                <a:ea typeface="Arial"/>
                <a:cs typeface="Arial"/>
              </a:defRPr>
            </a:defPPr>
          </a:lstStyle>
          <a:p xmlns:a="http://schemas.openxmlformats.org/drawingml/2006/main">
            <a:pPr>
              <a:defRPr sz="2175" b="1">
                <a:solidFill>
                  <a:srgbClr val="172544"/>
                </a:solidFill>
                <a:latin typeface="Arial"/>
                <a:ea typeface="Arial"/>
                <a:cs typeface="Arial"/>
              </a:defRPr>
            </a:pPr>
            <a:r>
              <a:rPr sz="2175" b="1">
                <a:solidFill>
                  <a:srgbClr val="172544"/>
                </a:solidFill>
                <a:latin typeface="Arial"/>
                <a:ea typeface="Arial"/>
                <a:cs typeface="Arial"/>
              </a:rPr>
              <a:t>Financial and policy review</a:t>
            </a:r>
          </a:p>
        </p:txBody>
      </p:sp>
      <p:sp>
        <p:nvSpPr>
          <p:cNvPr id="10" name="">
            <a:extLst xmlns:a="http://schemas.openxmlformats.org/drawingml/2006/main">
              <a:ext uri="{FF2B5EF4-FFF2-40B4-BE49-F238E27FC236}">
                <a16:creationId xmlns:a16="http://schemas.microsoft.com/office/drawing/2014/main" id="{7D256D02-309B-4D6D-8771-5AD427327E5E}"/>
              </a:ext>
            </a:extLst>
          </p:cNvPr>
          <p:cNvSpPr>
            <a:spLocks xmlns:a="http://schemas.openxmlformats.org/drawingml/2006/main" noGrp="1"/>
          </p:cNvSpPr>
          <p:nvPr/>
        </p:nvSpPr>
        <p:spPr>
          <a:xfrm xmlns:a="http://schemas.openxmlformats.org/drawingml/2006/main">
            <a:off x="1428750" y="356235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187"/>
                </a:solidFill>
                <a:latin typeface="Arial"/>
                <a:ea typeface="Arial"/>
                <a:cs typeface="Arial"/>
              </a:defRPr>
            </a:defPPr>
          </a:lstStyle>
          <a:p xmlns:a="http://schemas.openxmlformats.org/drawingml/2006/main">
            <a:pPr>
              <a:defRPr sz="1875" b="0">
                <a:solidFill>
                  <a:srgbClr val="627187"/>
                </a:solidFill>
                <a:latin typeface="Arial"/>
                <a:ea typeface="Arial"/>
                <a:cs typeface="Arial"/>
              </a:defRPr>
            </a:pPr>
            <a:r>
              <a:rPr sz="1875" b="0">
                <a:solidFill>
                  <a:srgbClr val="627187"/>
                </a:solidFill>
                <a:latin typeface="Arial"/>
                <a:ea typeface="Arial"/>
                <a:cs typeface="Arial"/>
              </a:rPr>
              <a:t>Python capacity checks and expected loss using explicit LGD assumptions</a:t>
            </a:r>
          </a:p>
        </p:txBody>
      </p:sp>
      <p:sp>
        <p:nvSpPr>
          <p:cNvPr id="11" name="">
            <a:extLst xmlns:a="http://schemas.openxmlformats.org/drawingml/2006/main">
              <a:ext uri="{FF2B5EF4-FFF2-40B4-BE49-F238E27FC236}">
                <a16:creationId xmlns:a16="http://schemas.microsoft.com/office/drawing/2014/main" id="{3E5B1C28-8219-48B1-8545-46E578B822D3}"/>
              </a:ext>
            </a:extLst>
          </p:cNvPr>
          <p:cNvSpPr>
            <a:spLocks xmlns:a="http://schemas.openxmlformats.org/drawingml/2006/main" noGrp="1"/>
          </p:cNvSpPr>
          <p:nvPr/>
        </p:nvSpPr>
        <p:spPr>
          <a:xfrm xmlns:a="http://schemas.openxmlformats.org/drawingml/2006/main">
            <a:off x="609600" y="447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4C50BE"/>
                </a:solidFill>
                <a:latin typeface="Arial"/>
                <a:ea typeface="Arial"/>
                <a:cs typeface="Arial"/>
              </a:defRPr>
            </a:defPPr>
          </a:lstStyle>
          <a:p xmlns:a="http://schemas.openxmlformats.org/drawingml/2006/main">
            <a:pPr>
              <a:defRPr sz="2925" b="1">
                <a:solidFill>
                  <a:srgbClr val="4C50BE"/>
                </a:solidFill>
                <a:latin typeface="Arial"/>
                <a:ea typeface="Arial"/>
                <a:cs typeface="Arial"/>
              </a:defRPr>
            </a:pPr>
            <a:r>
              <a:rPr sz="2925" b="1">
                <a:solidFill>
                  <a:srgbClr val="4C50BE"/>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75410B80-1038-4781-AF30-E760DBE99E3E}"/>
              </a:ext>
            </a:extLst>
          </p:cNvPr>
          <p:cNvSpPr>
            <a:spLocks xmlns:a="http://schemas.openxmlformats.org/drawingml/2006/main" noGrp="1"/>
          </p:cNvSpPr>
          <p:nvPr/>
        </p:nvSpPr>
        <p:spPr>
          <a:xfrm xmlns:a="http://schemas.openxmlformats.org/drawingml/2006/main">
            <a:off x="1428750" y="4476750"/>
            <a:ext cx="990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544"/>
                </a:solidFill>
                <a:latin typeface="Arial"/>
                <a:ea typeface="Arial"/>
                <a:cs typeface="Arial"/>
              </a:defRPr>
            </a:defPPr>
          </a:lstStyle>
          <a:p xmlns:a="http://schemas.openxmlformats.org/drawingml/2006/main">
            <a:pPr>
              <a:defRPr sz="2175" b="1">
                <a:solidFill>
                  <a:srgbClr val="172544"/>
                </a:solidFill>
                <a:latin typeface="Arial"/>
                <a:ea typeface="Arial"/>
                <a:cs typeface="Arial"/>
              </a:defRPr>
            </a:pPr>
            <a:r>
              <a:rPr sz="2175" b="1">
                <a:solidFill>
                  <a:srgbClr val="172544"/>
                </a:solidFill>
                <a:latin typeface="Arial"/>
                <a:ea typeface="Arial"/>
                <a:cs typeface="Arial"/>
              </a:rPr>
              <a:t>Human decision</a:t>
            </a:r>
          </a:p>
        </p:txBody>
      </p:sp>
      <p:sp>
        <p:nvSpPr>
          <p:cNvPr id="13" name="">
            <a:extLst xmlns:a="http://schemas.openxmlformats.org/drawingml/2006/main">
              <a:ext uri="{FF2B5EF4-FFF2-40B4-BE49-F238E27FC236}">
                <a16:creationId xmlns:a16="http://schemas.microsoft.com/office/drawing/2014/main" id="{A47340A0-826B-4774-AF00-F29464DFE597}"/>
              </a:ext>
            </a:extLst>
          </p:cNvPr>
          <p:cNvSpPr>
            <a:spLocks xmlns:a="http://schemas.openxmlformats.org/drawingml/2006/main" noGrp="1"/>
          </p:cNvSpPr>
          <p:nvPr/>
        </p:nvSpPr>
        <p:spPr>
          <a:xfrm xmlns:a="http://schemas.openxmlformats.org/drawingml/2006/main">
            <a:off x="1428750" y="491490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187"/>
                </a:solidFill>
                <a:latin typeface="Arial"/>
                <a:ea typeface="Arial"/>
                <a:cs typeface="Arial"/>
              </a:defRPr>
            </a:defPPr>
          </a:lstStyle>
          <a:p xmlns:a="http://schemas.openxmlformats.org/drawingml/2006/main">
            <a:pPr>
              <a:defRPr sz="1875" b="0">
                <a:solidFill>
                  <a:srgbClr val="627187"/>
                </a:solidFill>
                <a:latin typeface="Arial"/>
                <a:ea typeface="Arial"/>
                <a:cs typeface="Arial"/>
              </a:defRPr>
            </a:pPr>
            <a:r>
              <a:rPr sz="1875" b="0">
                <a:solidFill>
                  <a:srgbClr val="627187"/>
                </a:solidFill>
                <a:latin typeface="Arial"/>
                <a:ea typeface="Arial"/>
                <a:cs typeface="Arial"/>
              </a:rPr>
              <a:t>Reviewer records a rationale. The original model assessment remains saved.</a:t>
            </a:r>
          </a:p>
        </p:txBody>
      </p:sp>
      <p:sp>
        <p:nvSpPr>
          <p:cNvPr id="14" name="">
            <a:extLst xmlns:a="http://schemas.openxmlformats.org/drawingml/2006/main">
              <a:ext uri="{FF2B5EF4-FFF2-40B4-BE49-F238E27FC236}">
                <a16:creationId xmlns:a16="http://schemas.microsoft.com/office/drawing/2014/main" id="{3C8A1CC7-ECD0-4F75-994F-BEEF9AADEEAC}"/>
              </a:ext>
            </a:extLst>
          </p:cNvPr>
          <p:cNvSpPr>
            <a:spLocks xmlns:a="http://schemas.openxmlformats.org/drawingml/2006/main" noGrp="1"/>
          </p:cNvSpPr>
          <p:nvPr/>
        </p:nvSpPr>
        <p:spPr>
          <a:xfrm xmlns:a="http://schemas.openxmlformats.org/drawingml/2006/main">
            <a:off x="1428750" y="5876925"/>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37D80"/>
                </a:solidFill>
                <a:latin typeface="Arial"/>
                <a:ea typeface="Arial"/>
                <a:cs typeface="Arial"/>
              </a:defRPr>
            </a:defPPr>
          </a:lstStyle>
          <a:p xmlns:a="http://schemas.openxmlformats.org/drawingml/2006/main">
            <a:pPr>
              <a:defRPr sz="1800" b="1">
                <a:solidFill>
                  <a:srgbClr val="137D80"/>
                </a:solidFill>
                <a:latin typeface="Arial"/>
                <a:ea typeface="Arial"/>
                <a:cs typeface="Arial"/>
              </a:defRPr>
            </a:pPr>
            <a:r>
              <a:rPr sz="1800" b="1">
                <a:solidFill>
                  <a:srgbClr val="137D80"/>
                </a:solidFill>
                <a:latin typeface="Arial"/>
                <a:ea typeface="Arial"/>
                <a:cs typeface="Arial"/>
              </a:rPr>
              <a:t>Audit history connects the case, model assessment and final decision</a:t>
            </a:r>
          </a:p>
        </p:txBody>
      </p:sp>
    </p:spTree>
    <p:extLst>
      <p:ext uri="{BB962C8B-B14F-4D97-AF65-F5344CB8AC3E}">
        <p14:creationId xmlns:p14="http://schemas.microsoft.com/office/powerpoint/2010/main" val="1055198479"/>
      </p:ext>
    </p:extLst>
  </p:cSld>
</p:sld>
</file>

<file path=ppt/slides/slide1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F5F4D51-CC35-4D81-A2EF-AFDCB989094D}"/>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DEMO</a:t>
            </a:r>
          </a:p>
        </p:txBody>
      </p:sp>
      <p:sp>
        <p:nvSpPr>
          <p:cNvPr id="2" name="">
            <a:extLst xmlns:a="http://schemas.openxmlformats.org/drawingml/2006/main">
              <a:ext uri="{FF2B5EF4-FFF2-40B4-BE49-F238E27FC236}">
                <a16:creationId xmlns:a16="http://schemas.microsoft.com/office/drawing/2014/main" id="{F9687CFF-028F-4C02-B617-5EBF8FD6AB54}"/>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Live demonstration</a:t>
            </a:r>
          </a:p>
        </p:txBody>
      </p:sp>
      <p:sp>
        <p:nvSpPr>
          <p:cNvPr id="3" name="">
            <a:extLst xmlns:a="http://schemas.openxmlformats.org/drawingml/2006/main">
              <a:ext uri="{FF2B5EF4-FFF2-40B4-BE49-F238E27FC236}">
                <a16:creationId xmlns:a16="http://schemas.microsoft.com/office/drawing/2014/main" id="{336F9EB1-7C2F-4AA1-B362-809FAD283F2B}"/>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6B92D216-A564-476F-B819-62D37D0FAC0C}"/>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A6FC8936-37B1-45CA-926B-00858F58237A}"/>
              </a:ext>
            </a:extLst>
          </p:cNvPr>
          <p:cNvSpPr>
            <a:spLocks xmlns:a="http://schemas.openxmlformats.org/drawingml/2006/main" noGrp="1"/>
          </p:cNvSpPr>
          <p:nvPr/>
        </p:nvSpPr>
        <p:spPr>
          <a:xfrm xmlns:a="http://schemas.openxmlformats.org/drawingml/2006/main">
            <a:off x="609600" y="175260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4C50BE"/>
                </a:solidFill>
                <a:latin typeface="Arial"/>
                <a:ea typeface="Arial"/>
                <a:cs typeface="Arial"/>
              </a:defRPr>
            </a:defPPr>
          </a:lstStyle>
          <a:p xmlns:a="http://schemas.openxmlformats.org/drawingml/2006/main">
            <a:pPr>
              <a:defRPr sz="3000" b="1">
                <a:solidFill>
                  <a:srgbClr val="4C50BE"/>
                </a:solidFill>
                <a:latin typeface="Arial"/>
                <a:ea typeface="Arial"/>
                <a:cs typeface="Arial"/>
              </a:defRPr>
            </a:pPr>
            <a:r>
              <a:rPr sz="3000" b="1">
                <a:solidFill>
                  <a:srgbClr val="4C50BE"/>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7DBAD5E-F581-410B-8F69-8F0ED4AF9AFA}"/>
              </a:ext>
            </a:extLst>
          </p:cNvPr>
          <p:cNvSpPr>
            <a:spLocks xmlns:a="http://schemas.openxmlformats.org/drawingml/2006/main" noGrp="1"/>
          </p:cNvSpPr>
          <p:nvPr/>
        </p:nvSpPr>
        <p:spPr>
          <a:xfrm xmlns:a="http://schemas.openxmlformats.org/drawingml/2006/main">
            <a:off x="1590675" y="1752600"/>
            <a:ext cx="414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544"/>
                </a:solidFill>
                <a:latin typeface="Arial"/>
                <a:ea typeface="Arial"/>
                <a:cs typeface="Arial"/>
              </a:defRPr>
            </a:defPPr>
          </a:lstStyle>
          <a:p xmlns:a="http://schemas.openxmlformats.org/drawingml/2006/main">
            <a:pPr>
              <a:defRPr sz="2175" b="1">
                <a:solidFill>
                  <a:srgbClr val="172544"/>
                </a:solidFill>
                <a:latin typeface="Arial"/>
                <a:ea typeface="Arial"/>
                <a:cs typeface="Arial"/>
              </a:defRPr>
            </a:pPr>
            <a:r>
              <a:rPr sz="2175" b="1">
                <a:solidFill>
                  <a:srgbClr val="172544"/>
                </a:solidFill>
                <a:latin typeface="Arial"/>
                <a:ea typeface="Arial"/>
                <a:cs typeface="Arial"/>
              </a:rPr>
              <a:t>Borrower and documents</a:t>
            </a:r>
          </a:p>
        </p:txBody>
      </p:sp>
      <p:sp>
        <p:nvSpPr>
          <p:cNvPr id="7" name="">
            <a:extLst xmlns:a="http://schemas.openxmlformats.org/drawingml/2006/main">
              <a:ext uri="{FF2B5EF4-FFF2-40B4-BE49-F238E27FC236}">
                <a16:creationId xmlns:a16="http://schemas.microsoft.com/office/drawing/2014/main" id="{36EBB6D3-C368-43A9-B6C3-3D2095D3968A}"/>
              </a:ext>
            </a:extLst>
          </p:cNvPr>
          <p:cNvSpPr>
            <a:spLocks xmlns:a="http://schemas.openxmlformats.org/drawingml/2006/main" noGrp="1"/>
          </p:cNvSpPr>
          <p:nvPr/>
        </p:nvSpPr>
        <p:spPr>
          <a:xfrm xmlns:a="http://schemas.openxmlformats.org/drawingml/2006/main">
            <a:off x="6010275" y="1790700"/>
            <a:ext cx="5562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73952"/>
                </a:solidFill>
                <a:latin typeface="Arial"/>
                <a:ea typeface="Arial"/>
                <a:cs typeface="Arial"/>
              </a:defRPr>
            </a:defPPr>
          </a:lstStyle>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Review the fictional borrower</a:t>
            </a:r>
          </a:p>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and extracted inputs</a:t>
            </a:r>
          </a:p>
        </p:txBody>
      </p:sp>
      <p:sp>
        <p:nvSpPr>
          <p:cNvPr id="8" name="">
            <a:extLst xmlns:a="http://schemas.openxmlformats.org/drawingml/2006/main">
              <a:ext uri="{FF2B5EF4-FFF2-40B4-BE49-F238E27FC236}">
                <a16:creationId xmlns:a16="http://schemas.microsoft.com/office/drawing/2014/main" id="{99A3C1B8-4B9A-48DC-8CBD-FDA7B1FEBBCD}"/>
              </a:ext>
            </a:extLst>
          </p:cNvPr>
          <p:cNvSpPr>
            <a:spLocks xmlns:a="http://schemas.openxmlformats.org/drawingml/2006/main" noGrp="1"/>
          </p:cNvSpPr>
          <p:nvPr/>
        </p:nvSpPr>
        <p:spPr>
          <a:xfrm xmlns:a="http://schemas.openxmlformats.org/drawingml/2006/main">
            <a:off x="1590675" y="2609850"/>
            <a:ext cx="9991725" cy="0"/>
          </a:xfrm>
          <a:prstGeom xmlns:a="http://schemas.openxmlformats.org/drawingml/2006/main" prst="line">
            <a:avLst/>
          </a:prstGeom>
          <a:ln xmlns:a="http://schemas.openxmlformats.org/drawingml/2006/main" w="19050">
            <a:solidFill>
              <a:srgbClr val="D7DEEA"/>
            </a:solidFill>
          </a:ln>
        </p:spPr>
      </p:sp>
      <p:sp>
        <p:nvSpPr>
          <p:cNvPr id="9" name="">
            <a:extLst xmlns:a="http://schemas.openxmlformats.org/drawingml/2006/main">
              <a:ext uri="{FF2B5EF4-FFF2-40B4-BE49-F238E27FC236}">
                <a16:creationId xmlns:a16="http://schemas.microsoft.com/office/drawing/2014/main" id="{80544283-8B8B-4B75-A639-813E05E643E3}"/>
              </a:ext>
            </a:extLst>
          </p:cNvPr>
          <p:cNvSpPr>
            <a:spLocks xmlns:a="http://schemas.openxmlformats.org/drawingml/2006/main" noGrp="1"/>
          </p:cNvSpPr>
          <p:nvPr/>
        </p:nvSpPr>
        <p:spPr>
          <a:xfrm xmlns:a="http://schemas.openxmlformats.org/drawingml/2006/main">
            <a:off x="609600" y="279082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4C50BE"/>
                </a:solidFill>
                <a:latin typeface="Arial"/>
                <a:ea typeface="Arial"/>
                <a:cs typeface="Arial"/>
              </a:defRPr>
            </a:defPPr>
          </a:lstStyle>
          <a:p xmlns:a="http://schemas.openxmlformats.org/drawingml/2006/main">
            <a:pPr>
              <a:defRPr sz="3000" b="1">
                <a:solidFill>
                  <a:srgbClr val="4C50BE"/>
                </a:solidFill>
                <a:latin typeface="Arial"/>
                <a:ea typeface="Arial"/>
                <a:cs typeface="Arial"/>
              </a:defRPr>
            </a:pPr>
            <a:r>
              <a:rPr sz="3000" b="1">
                <a:solidFill>
                  <a:srgbClr val="4C50BE"/>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383005DE-988F-4E34-AE68-A3EC781A7717}"/>
              </a:ext>
            </a:extLst>
          </p:cNvPr>
          <p:cNvSpPr>
            <a:spLocks xmlns:a="http://schemas.openxmlformats.org/drawingml/2006/main" noGrp="1"/>
          </p:cNvSpPr>
          <p:nvPr/>
        </p:nvSpPr>
        <p:spPr>
          <a:xfrm xmlns:a="http://schemas.openxmlformats.org/drawingml/2006/main">
            <a:off x="1590675" y="2790825"/>
            <a:ext cx="414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544"/>
                </a:solidFill>
                <a:latin typeface="Arial"/>
                <a:ea typeface="Arial"/>
                <a:cs typeface="Arial"/>
              </a:defRPr>
            </a:defPPr>
          </a:lstStyle>
          <a:p xmlns:a="http://schemas.openxmlformats.org/drawingml/2006/main">
            <a:pPr>
              <a:defRPr sz="2175" b="1">
                <a:solidFill>
                  <a:srgbClr val="172544"/>
                </a:solidFill>
                <a:latin typeface="Arial"/>
                <a:ea typeface="Arial"/>
                <a:cs typeface="Arial"/>
              </a:defRPr>
            </a:pPr>
            <a:r>
              <a:rPr sz="2175" b="1">
                <a:solidFill>
                  <a:srgbClr val="172544"/>
                </a:solidFill>
                <a:latin typeface="Arial"/>
                <a:ea typeface="Arial"/>
                <a:cs typeface="Arial"/>
              </a:rPr>
              <a:t>Underwriting</a:t>
            </a:r>
          </a:p>
        </p:txBody>
      </p:sp>
      <p:sp>
        <p:nvSpPr>
          <p:cNvPr id="11" name="">
            <a:extLst xmlns:a="http://schemas.openxmlformats.org/drawingml/2006/main">
              <a:ext uri="{FF2B5EF4-FFF2-40B4-BE49-F238E27FC236}">
                <a16:creationId xmlns:a16="http://schemas.microsoft.com/office/drawing/2014/main" id="{FEC59006-E7FD-4119-9CCE-0AF0777A663E}"/>
              </a:ext>
            </a:extLst>
          </p:cNvPr>
          <p:cNvSpPr>
            <a:spLocks xmlns:a="http://schemas.openxmlformats.org/drawingml/2006/main" noGrp="1"/>
          </p:cNvSpPr>
          <p:nvPr/>
        </p:nvSpPr>
        <p:spPr>
          <a:xfrm xmlns:a="http://schemas.openxmlformats.org/drawingml/2006/main">
            <a:off x="6010275" y="2828925"/>
            <a:ext cx="5562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73952"/>
                </a:solidFill>
                <a:latin typeface="Arial"/>
                <a:ea typeface="Arial"/>
                <a:cs typeface="Arial"/>
              </a:defRPr>
            </a:defPPr>
          </a:lstStyle>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Compare repayment capacity, PD</a:t>
            </a:r>
          </a:p>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and expected loss</a:t>
            </a:r>
          </a:p>
        </p:txBody>
      </p:sp>
      <p:sp>
        <p:nvSpPr>
          <p:cNvPr id="12" name="">
            <a:extLst xmlns:a="http://schemas.openxmlformats.org/drawingml/2006/main">
              <a:ext uri="{FF2B5EF4-FFF2-40B4-BE49-F238E27FC236}">
                <a16:creationId xmlns:a16="http://schemas.microsoft.com/office/drawing/2014/main" id="{5E3F57BA-9822-4B4A-9E65-3B70C0665013}"/>
              </a:ext>
            </a:extLst>
          </p:cNvPr>
          <p:cNvSpPr>
            <a:spLocks xmlns:a="http://schemas.openxmlformats.org/drawingml/2006/main" noGrp="1"/>
          </p:cNvSpPr>
          <p:nvPr/>
        </p:nvSpPr>
        <p:spPr>
          <a:xfrm xmlns:a="http://schemas.openxmlformats.org/drawingml/2006/main">
            <a:off x="1590675" y="3648075"/>
            <a:ext cx="9991725" cy="0"/>
          </a:xfrm>
          <a:prstGeom xmlns:a="http://schemas.openxmlformats.org/drawingml/2006/main" prst="line">
            <a:avLst/>
          </a:prstGeom>
          <a:ln xmlns:a="http://schemas.openxmlformats.org/drawingml/2006/main" w="19050">
            <a:solidFill>
              <a:srgbClr val="D7DEEA"/>
            </a:solidFill>
          </a:ln>
        </p:spPr>
      </p:sp>
      <p:sp>
        <p:nvSpPr>
          <p:cNvPr id="13" name="">
            <a:extLst xmlns:a="http://schemas.openxmlformats.org/drawingml/2006/main">
              <a:ext uri="{FF2B5EF4-FFF2-40B4-BE49-F238E27FC236}">
                <a16:creationId xmlns:a16="http://schemas.microsoft.com/office/drawing/2014/main" id="{581674C9-264A-490C-AEF5-C4B64170C227}"/>
              </a:ext>
            </a:extLst>
          </p:cNvPr>
          <p:cNvSpPr>
            <a:spLocks xmlns:a="http://schemas.openxmlformats.org/drawingml/2006/main" noGrp="1"/>
          </p:cNvSpPr>
          <p:nvPr/>
        </p:nvSpPr>
        <p:spPr>
          <a:xfrm xmlns:a="http://schemas.openxmlformats.org/drawingml/2006/main">
            <a:off x="609600" y="382905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4C50BE"/>
                </a:solidFill>
                <a:latin typeface="Arial"/>
                <a:ea typeface="Arial"/>
                <a:cs typeface="Arial"/>
              </a:defRPr>
            </a:defPPr>
          </a:lstStyle>
          <a:p xmlns:a="http://schemas.openxmlformats.org/drawingml/2006/main">
            <a:pPr>
              <a:defRPr sz="3000" b="1">
                <a:solidFill>
                  <a:srgbClr val="4C50BE"/>
                </a:solidFill>
                <a:latin typeface="Arial"/>
                <a:ea typeface="Arial"/>
                <a:cs typeface="Arial"/>
              </a:defRPr>
            </a:pPr>
            <a:r>
              <a:rPr sz="3000" b="1">
                <a:solidFill>
                  <a:srgbClr val="4C50BE"/>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E15F8E1A-A2B2-4FAF-9489-2E023E5F6D47}"/>
              </a:ext>
            </a:extLst>
          </p:cNvPr>
          <p:cNvSpPr>
            <a:spLocks xmlns:a="http://schemas.openxmlformats.org/drawingml/2006/main" noGrp="1"/>
          </p:cNvSpPr>
          <p:nvPr/>
        </p:nvSpPr>
        <p:spPr>
          <a:xfrm xmlns:a="http://schemas.openxmlformats.org/drawingml/2006/main">
            <a:off x="1590675" y="3829050"/>
            <a:ext cx="414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544"/>
                </a:solidFill>
                <a:latin typeface="Arial"/>
                <a:ea typeface="Arial"/>
                <a:cs typeface="Arial"/>
              </a:defRPr>
            </a:defPPr>
          </a:lstStyle>
          <a:p xmlns:a="http://schemas.openxmlformats.org/drawingml/2006/main">
            <a:pPr>
              <a:defRPr sz="2175" b="1">
                <a:solidFill>
                  <a:srgbClr val="172544"/>
                </a:solidFill>
                <a:latin typeface="Arial"/>
                <a:ea typeface="Arial"/>
                <a:cs typeface="Arial"/>
              </a:defRPr>
            </a:pPr>
            <a:r>
              <a:rPr sz="2175" b="1">
                <a:solidFill>
                  <a:srgbClr val="172544"/>
                </a:solidFill>
                <a:latin typeface="Arial"/>
                <a:ea typeface="Arial"/>
                <a:cs typeface="Arial"/>
              </a:rPr>
              <a:t>Explain and decide</a:t>
            </a:r>
          </a:p>
        </p:txBody>
      </p:sp>
      <p:sp>
        <p:nvSpPr>
          <p:cNvPr id="15" name="">
            <a:extLst xmlns:a="http://schemas.openxmlformats.org/drawingml/2006/main">
              <a:ext uri="{FF2B5EF4-FFF2-40B4-BE49-F238E27FC236}">
                <a16:creationId xmlns:a16="http://schemas.microsoft.com/office/drawing/2014/main" id="{2F4FB8F6-6D2B-4527-881E-23F37E471ABB}"/>
              </a:ext>
            </a:extLst>
          </p:cNvPr>
          <p:cNvSpPr>
            <a:spLocks xmlns:a="http://schemas.openxmlformats.org/drawingml/2006/main" noGrp="1"/>
          </p:cNvSpPr>
          <p:nvPr/>
        </p:nvSpPr>
        <p:spPr>
          <a:xfrm xmlns:a="http://schemas.openxmlformats.org/drawingml/2006/main">
            <a:off x="6010275" y="3867150"/>
            <a:ext cx="5562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73952"/>
                </a:solidFill>
                <a:latin typeface="Arial"/>
                <a:ea typeface="Arial"/>
                <a:cs typeface="Arial"/>
              </a:defRPr>
            </a:defPPr>
          </a:lstStyle>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Inspect SHAP, then save a</a:t>
            </a:r>
          </a:p>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reasoned human decision</a:t>
            </a:r>
          </a:p>
        </p:txBody>
      </p:sp>
      <p:sp>
        <p:nvSpPr>
          <p:cNvPr id="16" name="">
            <a:extLst xmlns:a="http://schemas.openxmlformats.org/drawingml/2006/main">
              <a:ext uri="{FF2B5EF4-FFF2-40B4-BE49-F238E27FC236}">
                <a16:creationId xmlns:a16="http://schemas.microsoft.com/office/drawing/2014/main" id="{01331BA3-EB75-4B81-9AF0-20FA0A72BB4F}"/>
              </a:ext>
            </a:extLst>
          </p:cNvPr>
          <p:cNvSpPr>
            <a:spLocks xmlns:a="http://schemas.openxmlformats.org/drawingml/2006/main" noGrp="1"/>
          </p:cNvSpPr>
          <p:nvPr/>
        </p:nvSpPr>
        <p:spPr>
          <a:xfrm xmlns:a="http://schemas.openxmlformats.org/drawingml/2006/main">
            <a:off x="1590675" y="4686300"/>
            <a:ext cx="9991725" cy="0"/>
          </a:xfrm>
          <a:prstGeom xmlns:a="http://schemas.openxmlformats.org/drawingml/2006/main" prst="line">
            <a:avLst/>
          </a:prstGeom>
          <a:ln xmlns:a="http://schemas.openxmlformats.org/drawingml/2006/main" w="19050">
            <a:solidFill>
              <a:srgbClr val="D7DEEA"/>
            </a:solidFill>
          </a:ln>
        </p:spPr>
      </p:sp>
      <p:sp>
        <p:nvSpPr>
          <p:cNvPr id="17" name="">
            <a:extLst xmlns:a="http://schemas.openxmlformats.org/drawingml/2006/main">
              <a:ext uri="{FF2B5EF4-FFF2-40B4-BE49-F238E27FC236}">
                <a16:creationId xmlns:a16="http://schemas.microsoft.com/office/drawing/2014/main" id="{16896EC9-BDF6-4F9A-8999-628A0B84944C}"/>
              </a:ext>
            </a:extLst>
          </p:cNvPr>
          <p:cNvSpPr>
            <a:spLocks xmlns:a="http://schemas.openxmlformats.org/drawingml/2006/main" noGrp="1"/>
          </p:cNvSpPr>
          <p:nvPr/>
        </p:nvSpPr>
        <p:spPr>
          <a:xfrm xmlns:a="http://schemas.openxmlformats.org/drawingml/2006/main">
            <a:off x="609600" y="486727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4C50BE"/>
                </a:solidFill>
                <a:latin typeface="Arial"/>
                <a:ea typeface="Arial"/>
                <a:cs typeface="Arial"/>
              </a:defRPr>
            </a:defPPr>
          </a:lstStyle>
          <a:p xmlns:a="http://schemas.openxmlformats.org/drawingml/2006/main">
            <a:pPr>
              <a:defRPr sz="3000" b="1">
                <a:solidFill>
                  <a:srgbClr val="4C50BE"/>
                </a:solidFill>
                <a:latin typeface="Arial"/>
                <a:ea typeface="Arial"/>
                <a:cs typeface="Arial"/>
              </a:defRPr>
            </a:pPr>
            <a:r>
              <a:rPr sz="3000" b="1">
                <a:solidFill>
                  <a:srgbClr val="4C50BE"/>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E82B438E-338F-45FD-823B-5360F4A7C248}"/>
              </a:ext>
            </a:extLst>
          </p:cNvPr>
          <p:cNvSpPr>
            <a:spLocks xmlns:a="http://schemas.openxmlformats.org/drawingml/2006/main" noGrp="1"/>
          </p:cNvSpPr>
          <p:nvPr/>
        </p:nvSpPr>
        <p:spPr>
          <a:xfrm xmlns:a="http://schemas.openxmlformats.org/drawingml/2006/main">
            <a:off x="1590675" y="4867275"/>
            <a:ext cx="414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544"/>
                </a:solidFill>
                <a:latin typeface="Arial"/>
                <a:ea typeface="Arial"/>
                <a:cs typeface="Arial"/>
              </a:defRPr>
            </a:defPPr>
          </a:lstStyle>
          <a:p xmlns:a="http://schemas.openxmlformats.org/drawingml/2006/main">
            <a:pPr>
              <a:defRPr sz="2175" b="1">
                <a:solidFill>
                  <a:srgbClr val="172544"/>
                </a:solidFill>
                <a:latin typeface="Arial"/>
                <a:ea typeface="Arial"/>
                <a:cs typeface="Arial"/>
              </a:defRPr>
            </a:pPr>
            <a:r>
              <a:rPr sz="2175" b="1">
                <a:solidFill>
                  <a:srgbClr val="172544"/>
                </a:solidFill>
                <a:latin typeface="Arial"/>
                <a:ea typeface="Arial"/>
                <a:cs typeface="Arial"/>
              </a:rPr>
              <a:t>Memo and scenarios</a:t>
            </a:r>
          </a:p>
        </p:txBody>
      </p:sp>
      <p:sp>
        <p:nvSpPr>
          <p:cNvPr id="19" name="">
            <a:extLst xmlns:a="http://schemas.openxmlformats.org/drawingml/2006/main">
              <a:ext uri="{FF2B5EF4-FFF2-40B4-BE49-F238E27FC236}">
                <a16:creationId xmlns:a16="http://schemas.microsoft.com/office/drawing/2014/main" id="{DCF79FA5-FC39-42FB-8457-C85C7FF64213}"/>
              </a:ext>
            </a:extLst>
          </p:cNvPr>
          <p:cNvSpPr>
            <a:spLocks xmlns:a="http://schemas.openxmlformats.org/drawingml/2006/main" noGrp="1"/>
          </p:cNvSpPr>
          <p:nvPr/>
        </p:nvSpPr>
        <p:spPr>
          <a:xfrm xmlns:a="http://schemas.openxmlformats.org/drawingml/2006/main">
            <a:off x="6010275" y="4905375"/>
            <a:ext cx="5562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73952"/>
                </a:solidFill>
                <a:latin typeface="Arial"/>
                <a:ea typeface="Arial"/>
                <a:cs typeface="Arial"/>
              </a:defRPr>
            </a:defPPr>
          </a:lstStyle>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Open the memo, audit history</a:t>
            </a:r>
          </a:p>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and a business stress case</a:t>
            </a:r>
          </a:p>
        </p:txBody>
      </p:sp>
      <p:sp>
        <p:nvSpPr>
          <p:cNvPr id="20" name="">
            <a:extLst xmlns:a="http://schemas.openxmlformats.org/drawingml/2006/main">
              <a:ext uri="{FF2B5EF4-FFF2-40B4-BE49-F238E27FC236}">
                <a16:creationId xmlns:a16="http://schemas.microsoft.com/office/drawing/2014/main" id="{60078441-F571-4199-8D71-B6830CE24A27}"/>
              </a:ext>
            </a:extLst>
          </p:cNvPr>
          <p:cNvSpPr>
            <a:spLocks xmlns:a="http://schemas.openxmlformats.org/drawingml/2006/main" noGrp="1"/>
          </p:cNvSpPr>
          <p:nvPr/>
        </p:nvSpPr>
        <p:spPr>
          <a:xfrm xmlns:a="http://schemas.openxmlformats.org/drawingml/2006/main">
            <a:off x="1590675" y="5724525"/>
            <a:ext cx="9991725" cy="0"/>
          </a:xfrm>
          <a:prstGeom xmlns:a="http://schemas.openxmlformats.org/drawingml/2006/main" prst="line">
            <a:avLst/>
          </a:prstGeom>
          <a:ln xmlns:a="http://schemas.openxmlformats.org/drawingml/2006/main" w="19050">
            <a:solidFill>
              <a:srgbClr val="D7DEEA"/>
            </a:solidFill>
          </a:ln>
        </p:spPr>
      </p:sp>
    </p:spTree>
    <p:extLst>
      <p:ext uri="{BB962C8B-B14F-4D97-AF65-F5344CB8AC3E}">
        <p14:creationId xmlns:p14="http://schemas.microsoft.com/office/powerpoint/2010/main" val="2020913113"/>
      </p:ext>
    </p:extLst>
  </p:cSld>
</p:sld>
</file>

<file path=ppt/slides/slide14.xml><?xml version="1.0" encoding="utf-8"?>
<p:sld xmlns:p="http://schemas.openxmlformats.org/presentationml/2006/main">
  <p:cSld>
    <p:bg>
      <p:bgPr>
        <a:solidFill xmlns:a="http://schemas.openxmlformats.org/drawingml/2006/main">
          <a:srgbClr val="17254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05AB78E-407F-457C-8D8B-8CB942881FAF}"/>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AEBDE5"/>
                </a:solidFill>
                <a:latin typeface="Arial"/>
                <a:ea typeface="Arial"/>
                <a:cs typeface="Arial"/>
              </a:defRPr>
            </a:defPPr>
          </a:lstStyle>
          <a:p xmlns:a="http://schemas.openxmlformats.org/drawingml/2006/main">
            <a:pPr>
              <a:defRPr sz="1200" b="1">
                <a:solidFill>
                  <a:srgbClr val="AEBDE5"/>
                </a:solidFill>
                <a:latin typeface="Arial"/>
                <a:ea typeface="Arial"/>
                <a:cs typeface="Arial"/>
              </a:defRPr>
            </a:pPr>
            <a:r>
              <a:rPr sz="1200" b="1">
                <a:solidFill>
                  <a:srgbClr val="AEBDE5"/>
                </a:solidFill>
                <a:latin typeface="Arial"/>
                <a:ea typeface="Arial"/>
                <a:cs typeface="Arial"/>
              </a:rPr>
              <a:t>CLOSING</a:t>
            </a:r>
          </a:p>
        </p:txBody>
      </p:sp>
      <p:sp>
        <p:nvSpPr>
          <p:cNvPr id="2" name="">
            <a:extLst xmlns:a="http://schemas.openxmlformats.org/drawingml/2006/main">
              <a:ext uri="{FF2B5EF4-FFF2-40B4-BE49-F238E27FC236}">
                <a16:creationId xmlns:a16="http://schemas.microsoft.com/office/drawing/2014/main" id="{A87F5626-39FF-4E0F-B144-5F165D699FF9}"/>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Next steps and boundaries</a:t>
            </a:r>
          </a:p>
        </p:txBody>
      </p:sp>
      <p:sp>
        <p:nvSpPr>
          <p:cNvPr id="3" name="">
            <a:extLst xmlns:a="http://schemas.openxmlformats.org/drawingml/2006/main">
              <a:ext uri="{FF2B5EF4-FFF2-40B4-BE49-F238E27FC236}">
                <a16:creationId xmlns:a16="http://schemas.microsoft.com/office/drawing/2014/main" id="{A0F2B72C-8D53-4A26-8C6E-2AE5D482A002}"/>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EBDE5"/>
                </a:solidFill>
                <a:latin typeface="Arial"/>
                <a:ea typeface="Arial"/>
                <a:cs typeface="Arial"/>
              </a:defRPr>
            </a:defPPr>
          </a:lstStyle>
          <a:p xmlns:a="http://schemas.openxmlformats.org/drawingml/2006/main">
            <a:pPr>
              <a:defRPr sz="1125" b="0">
                <a:solidFill>
                  <a:srgbClr val="AEBDE5"/>
                </a:solidFill>
                <a:latin typeface="Arial"/>
                <a:ea typeface="Arial"/>
                <a:cs typeface="Arial"/>
              </a:defRPr>
            </a:pPr>
            <a:r>
              <a:rPr sz="1125" b="0">
                <a:solidFill>
                  <a:srgbClr val="AEBDE5"/>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AE71B682-30D6-425E-AD21-5233711280ED}"/>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EBDE5"/>
                </a:solidFill>
                <a:latin typeface="Arial"/>
                <a:ea typeface="Arial"/>
                <a:cs typeface="Arial"/>
              </a:defRPr>
            </a:defPPr>
          </a:lstStyle>
          <a:p xmlns:a="http://schemas.openxmlformats.org/drawingml/2006/main">
            <a:pPr>
              <a:defRPr sz="1125" b="0">
                <a:solidFill>
                  <a:srgbClr val="AEBDE5"/>
                </a:solidFill>
                <a:latin typeface="Arial"/>
                <a:ea typeface="Arial"/>
                <a:cs typeface="Arial"/>
              </a:defRPr>
            </a:pPr>
            <a:r>
              <a:rPr sz="1125" b="0">
                <a:solidFill>
                  <a:srgbClr val="AEBDE5"/>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A92F57E5-58F0-4499-B27C-2342138FAB6F}"/>
              </a:ext>
            </a:extLst>
          </p:cNvPr>
          <p:cNvSpPr>
            <a:spLocks xmlns:a="http://schemas.openxmlformats.org/drawingml/2006/main" noGrp="1"/>
          </p:cNvSpPr>
          <p:nvPr/>
        </p:nvSpPr>
        <p:spPr>
          <a:xfrm xmlns:a="http://schemas.openxmlformats.org/drawingml/2006/main">
            <a:off x="609600" y="1838325"/>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FFFFFF"/>
                </a:solidFill>
                <a:latin typeface="Arial"/>
                <a:ea typeface="Arial"/>
                <a:cs typeface="Arial"/>
              </a:defRPr>
            </a:defPPr>
          </a:lstStyle>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Working today</a:t>
            </a:r>
          </a:p>
        </p:txBody>
      </p:sp>
      <p:sp>
        <p:nvSpPr>
          <p:cNvPr id="6" name="">
            <a:extLst xmlns:a="http://schemas.openxmlformats.org/drawingml/2006/main">
              <a:ext uri="{FF2B5EF4-FFF2-40B4-BE49-F238E27FC236}">
                <a16:creationId xmlns:a16="http://schemas.microsoft.com/office/drawing/2014/main" id="{2DFB8D0E-9600-4A9E-91DB-EFE6BE8EC41E}"/>
              </a:ext>
            </a:extLst>
          </p:cNvPr>
          <p:cNvSpPr>
            <a:spLocks xmlns:a="http://schemas.openxmlformats.org/drawingml/2006/main" noGrp="1"/>
          </p:cNvSpPr>
          <p:nvPr/>
        </p:nvSpPr>
        <p:spPr>
          <a:xfrm xmlns:a="http://schemas.openxmlformats.org/drawingml/2006/main">
            <a:off x="609600" y="2676525"/>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C7D2EA"/>
                </a:solidFill>
                <a:latin typeface="Arial"/>
                <a:ea typeface="Arial"/>
                <a:cs typeface="Arial"/>
              </a:defRPr>
            </a:defPPr>
          </a:lstStyle>
          <a:p xmlns:a="http://schemas.openxmlformats.org/drawingml/2006/main">
            <a:pPr>
              <a:defRPr sz="2100" b="0">
                <a:solidFill>
                  <a:srgbClr val="C7D2EA"/>
                </a:solidFill>
                <a:latin typeface="Arial"/>
                <a:ea typeface="Arial"/>
                <a:cs typeface="Arial"/>
              </a:defRPr>
            </a:pPr>
            <a:r>
              <a:rPr sz="2100" b="0">
                <a:solidFill>
                  <a:srgbClr val="C7D2EA"/>
                </a:solidFill>
                <a:latin typeface="Arial"/>
                <a:ea typeface="Arial"/>
                <a:cs typeface="Arial"/>
              </a:rPr>
              <a:t>Persistent case workflow</a:t>
            </a:r>
          </a:p>
          <a:p xmlns:a="http://schemas.openxmlformats.org/drawingml/2006/main">
            <a:r>
              <a:t/>
            </a:r>
          </a:p>
          <a:p xmlns:a="http://schemas.openxmlformats.org/drawingml/2006/main">
            <a:pPr>
              <a:defRPr sz="2100" b="0">
                <a:solidFill>
                  <a:srgbClr val="C7D2EA"/>
                </a:solidFill>
                <a:latin typeface="Arial"/>
                <a:ea typeface="Arial"/>
                <a:cs typeface="Arial"/>
              </a:defRPr>
            </a:pPr>
            <a:r>
              <a:rPr sz="2100" b="0">
                <a:solidFill>
                  <a:srgbClr val="C7D2EA"/>
                </a:solidFill>
                <a:latin typeface="Arial"/>
                <a:ea typeface="Arial"/>
                <a:cs typeface="Arial"/>
              </a:rPr>
              <a:t>Three trained model families</a:t>
            </a:r>
          </a:p>
          <a:p xmlns:a="http://schemas.openxmlformats.org/drawingml/2006/main">
            <a:r>
              <a:t/>
            </a:r>
          </a:p>
          <a:p xmlns:a="http://schemas.openxmlformats.org/drawingml/2006/main">
            <a:pPr>
              <a:defRPr sz="2100" b="0">
                <a:solidFill>
                  <a:srgbClr val="C7D2EA"/>
                </a:solidFill>
                <a:latin typeface="Arial"/>
                <a:ea typeface="Arial"/>
                <a:cs typeface="Arial"/>
              </a:defRPr>
            </a:pPr>
            <a:r>
              <a:rPr sz="2100" b="0">
                <a:solidFill>
                  <a:srgbClr val="C7D2EA"/>
                </a:solidFill>
                <a:latin typeface="Arial"/>
                <a:ea typeface="Arial"/>
                <a:cs typeface="Arial"/>
              </a:rPr>
              <a:t>SHAP, finance and human review</a:t>
            </a:r>
          </a:p>
          <a:p xmlns:a="http://schemas.openxmlformats.org/drawingml/2006/main">
            <a:r>
              <a:t/>
            </a:r>
          </a:p>
          <a:p xmlns:a="http://schemas.openxmlformats.org/drawingml/2006/main">
            <a:pPr>
              <a:defRPr sz="2100" b="0">
                <a:solidFill>
                  <a:srgbClr val="C7D2EA"/>
                </a:solidFill>
                <a:latin typeface="Arial"/>
                <a:ea typeface="Arial"/>
                <a:cs typeface="Arial"/>
              </a:defRPr>
            </a:pPr>
            <a:r>
              <a:rPr sz="2100" b="0">
                <a:solidFill>
                  <a:srgbClr val="C7D2EA"/>
                </a:solidFill>
                <a:latin typeface="Arial"/>
                <a:ea typeface="Arial"/>
                <a:cs typeface="Arial"/>
              </a:rPr>
              <a:t>Memo exports and audit history</a:t>
            </a:r>
          </a:p>
        </p:txBody>
      </p:sp>
      <p:sp>
        <p:nvSpPr>
          <p:cNvPr id="7" name="">
            <a:extLst xmlns:a="http://schemas.openxmlformats.org/drawingml/2006/main">
              <a:ext uri="{FF2B5EF4-FFF2-40B4-BE49-F238E27FC236}">
                <a16:creationId xmlns:a16="http://schemas.microsoft.com/office/drawing/2014/main" id="{2B468641-7857-405B-B78B-F7168DBF4D32}"/>
              </a:ext>
            </a:extLst>
          </p:cNvPr>
          <p:cNvSpPr>
            <a:spLocks xmlns:a="http://schemas.openxmlformats.org/drawingml/2006/main" noGrp="1"/>
          </p:cNvSpPr>
          <p:nvPr/>
        </p:nvSpPr>
        <p:spPr>
          <a:xfrm xmlns:a="http://schemas.openxmlformats.org/drawingml/2006/main">
            <a:off x="6515100" y="1838325"/>
            <a:ext cx="5067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FFFFFF"/>
                </a:solidFill>
                <a:latin typeface="Arial"/>
                <a:ea typeface="Arial"/>
                <a:cs typeface="Arial"/>
              </a:defRPr>
            </a:defPPr>
          </a:lstStyle>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Before a real lending pilot</a:t>
            </a:r>
          </a:p>
        </p:txBody>
      </p:sp>
      <p:sp>
        <p:nvSpPr>
          <p:cNvPr id="8" name="">
            <a:extLst xmlns:a="http://schemas.openxmlformats.org/drawingml/2006/main">
              <a:ext uri="{FF2B5EF4-FFF2-40B4-BE49-F238E27FC236}">
                <a16:creationId xmlns:a16="http://schemas.microsoft.com/office/drawing/2014/main" id="{DE4C309E-5EBB-4B1C-B890-9D97A9823B8F}"/>
              </a:ext>
            </a:extLst>
          </p:cNvPr>
          <p:cNvSpPr>
            <a:spLocks xmlns:a="http://schemas.openxmlformats.org/drawingml/2006/main" noGrp="1"/>
          </p:cNvSpPr>
          <p:nvPr/>
        </p:nvSpPr>
        <p:spPr>
          <a:xfrm xmlns:a="http://schemas.openxmlformats.org/drawingml/2006/main">
            <a:off x="6515100" y="2676525"/>
            <a:ext cx="50673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C7D2EA"/>
                </a:solidFill>
                <a:latin typeface="Arial"/>
                <a:ea typeface="Arial"/>
                <a:cs typeface="Arial"/>
              </a:defRPr>
            </a:defPPr>
          </a:lstStyle>
          <a:p xmlns:a="http://schemas.openxmlformats.org/drawingml/2006/main">
            <a:pPr>
              <a:defRPr sz="2100" b="0">
                <a:solidFill>
                  <a:srgbClr val="C7D2EA"/>
                </a:solidFill>
                <a:latin typeface="Arial"/>
                <a:ea typeface="Arial"/>
                <a:cs typeface="Arial"/>
              </a:defRPr>
            </a:pPr>
            <a:r>
              <a:rPr sz="2100" b="0">
                <a:solidFill>
                  <a:srgbClr val="C7D2EA"/>
                </a:solidFill>
                <a:latin typeface="Arial"/>
                <a:ea typeface="Arial"/>
                <a:cs typeface="Arial"/>
              </a:rPr>
              <a:t>Authorized historical outcomes</a:t>
            </a:r>
          </a:p>
          <a:p xmlns:a="http://schemas.openxmlformats.org/drawingml/2006/main">
            <a:r>
              <a:t/>
            </a:r>
          </a:p>
          <a:p xmlns:a="http://schemas.openxmlformats.org/drawingml/2006/main">
            <a:pPr>
              <a:defRPr sz="2100" b="0">
                <a:solidFill>
                  <a:srgbClr val="C7D2EA"/>
                </a:solidFill>
                <a:latin typeface="Arial"/>
                <a:ea typeface="Arial"/>
                <a:cs typeface="Arial"/>
              </a:defRPr>
            </a:pPr>
            <a:r>
              <a:rPr sz="2100" b="0">
                <a:solidFill>
                  <a:srgbClr val="C7D2EA"/>
                </a:solidFill>
                <a:latin typeface="Arial"/>
                <a:ea typeface="Arial"/>
                <a:cs typeface="Arial"/>
              </a:rPr>
              <a:t>Validation across time and groups</a:t>
            </a:r>
          </a:p>
          <a:p xmlns:a="http://schemas.openxmlformats.org/drawingml/2006/main">
            <a:r>
              <a:t/>
            </a:r>
          </a:p>
          <a:p xmlns:a="http://schemas.openxmlformats.org/drawingml/2006/main">
            <a:pPr>
              <a:defRPr sz="2100" b="0">
                <a:solidFill>
                  <a:srgbClr val="C7D2EA"/>
                </a:solidFill>
                <a:latin typeface="Arial"/>
                <a:ea typeface="Arial"/>
                <a:cs typeface="Arial"/>
              </a:defRPr>
            </a:pPr>
            <a:r>
              <a:rPr sz="2100" b="0">
                <a:solidFill>
                  <a:srgbClr val="C7D2EA"/>
                </a:solidFill>
                <a:latin typeface="Arial"/>
                <a:ea typeface="Arial"/>
                <a:cs typeface="Arial"/>
              </a:rPr>
              <a:t>Threshold and calibration study</a:t>
            </a:r>
          </a:p>
          <a:p xmlns:a="http://schemas.openxmlformats.org/drawingml/2006/main">
            <a:r>
              <a:t/>
            </a:r>
          </a:p>
          <a:p xmlns:a="http://schemas.openxmlformats.org/drawingml/2006/main">
            <a:pPr>
              <a:defRPr sz="2100" b="0">
                <a:solidFill>
                  <a:srgbClr val="C7D2EA"/>
                </a:solidFill>
                <a:latin typeface="Arial"/>
                <a:ea typeface="Arial"/>
                <a:cs typeface="Arial"/>
              </a:defRPr>
            </a:pPr>
            <a:r>
              <a:rPr sz="2100" b="0">
                <a:solidFill>
                  <a:srgbClr val="C7D2EA"/>
                </a:solidFill>
                <a:latin typeface="Arial"/>
                <a:ea typeface="Arial"/>
                <a:cs typeface="Arial"/>
              </a:rPr>
              <a:t>Operational security and monitoring</a:t>
            </a:r>
          </a:p>
        </p:txBody>
      </p:sp>
      <p:sp>
        <p:nvSpPr>
          <p:cNvPr id="9" name="">
            <a:extLst xmlns:a="http://schemas.openxmlformats.org/drawingml/2006/main">
              <a:ext uri="{FF2B5EF4-FFF2-40B4-BE49-F238E27FC236}">
                <a16:creationId xmlns:a16="http://schemas.microsoft.com/office/drawing/2014/main" id="{10E66057-F412-486C-9BBA-B3A3010EFF08}"/>
              </a:ext>
            </a:extLst>
          </p:cNvPr>
          <p:cNvSpPr>
            <a:spLocks xmlns:a="http://schemas.openxmlformats.org/drawingml/2006/main" noGrp="1"/>
          </p:cNvSpPr>
          <p:nvPr/>
        </p:nvSpPr>
        <p:spPr>
          <a:xfrm xmlns:a="http://schemas.openxmlformats.org/drawingml/2006/main">
            <a:off x="609600" y="5848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4C5EF"/>
                </a:solidFill>
                <a:latin typeface="Arial"/>
                <a:ea typeface="Arial"/>
                <a:cs typeface="Arial"/>
              </a:defRPr>
            </a:defPPr>
          </a:lstStyle>
          <a:p xmlns:a="http://schemas.openxmlformats.org/drawingml/2006/main">
            <a:pPr>
              <a:defRPr sz="1875" b="0">
                <a:solidFill>
                  <a:srgbClr val="B4C5EF"/>
                </a:solidFill>
                <a:latin typeface="Arial"/>
                <a:ea typeface="Arial"/>
                <a:cs typeface="Arial"/>
              </a:defRPr>
            </a:pPr>
            <a:r>
              <a:rPr sz="1875" b="0">
                <a:solidFill>
                  <a:srgbClr val="B4C5EF"/>
                </a:solidFill>
                <a:latin typeface="Arial"/>
                <a:ea typeface="Arial"/>
                <a:cs typeface="Arial"/>
              </a:rPr>
              <a:t>Synthetic results demonstrate the system. Real lending requires independent evidence.</a:t>
            </a:r>
          </a:p>
        </p:txBody>
      </p:sp>
    </p:spTree>
    <p:extLst>
      <p:ext uri="{BB962C8B-B14F-4D97-AF65-F5344CB8AC3E}">
        <p14:creationId xmlns:p14="http://schemas.microsoft.com/office/powerpoint/2010/main" val="21160367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2026-10-11T23:34:02.6680000Z</dcterms:created>
  <dcterms:modified xsi:type="dcterms:W3CDTF">2026-10-11T23:34:02.6680000Z</dcterms:modified>
</coreProperties>
</file>